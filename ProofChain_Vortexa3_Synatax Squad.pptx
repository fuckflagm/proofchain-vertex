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8288000" cy="10287000"/>
  <p:notesSz cx="6858000" cy="9144000"/>
  <p:embeddedFontLst>
    <p:embeddedFont>
      <p:font typeface="Heading Now 31-38" panose="020B0604020202020204" charset="0"/>
      <p:regular r:id="rId11"/>
    </p:embeddedFont>
    <p:embeddedFont>
      <p:font typeface="Heading Now 31-38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2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10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2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0.png"/><Relationship Id="rId18" Type="http://schemas.openxmlformats.org/officeDocument/2006/relationships/image" Target="../media/image22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9.png"/><Relationship Id="rId17" Type="http://schemas.openxmlformats.org/officeDocument/2006/relationships/image" Target="../media/image17.png"/><Relationship Id="rId2" Type="http://schemas.openxmlformats.org/officeDocument/2006/relationships/image" Target="../media/image10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2.png"/><Relationship Id="rId19" Type="http://schemas.openxmlformats.org/officeDocument/2006/relationships/image" Target="../media/image23.png"/><Relationship Id="rId4" Type="http://schemas.openxmlformats.org/officeDocument/2006/relationships/image" Target="../media/image5.png"/><Relationship Id="rId9" Type="http://schemas.openxmlformats.org/officeDocument/2006/relationships/image" Target="../media/image12.pn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5.png"/><Relationship Id="rId18" Type="http://schemas.openxmlformats.org/officeDocument/2006/relationships/image" Target="../media/image14.png"/><Relationship Id="rId3" Type="http://schemas.openxmlformats.org/officeDocument/2006/relationships/image" Target="../media/image4.png"/><Relationship Id="rId21" Type="http://schemas.openxmlformats.org/officeDocument/2006/relationships/image" Target="../media/image30.png"/><Relationship Id="rId7" Type="http://schemas.openxmlformats.org/officeDocument/2006/relationships/image" Target="../media/image7.png"/><Relationship Id="rId12" Type="http://schemas.openxmlformats.org/officeDocument/2006/relationships/image" Target="../media/image24.png"/><Relationship Id="rId17" Type="http://schemas.openxmlformats.org/officeDocument/2006/relationships/image" Target="../media/image13.png"/><Relationship Id="rId2" Type="http://schemas.openxmlformats.org/officeDocument/2006/relationships/image" Target="../media/image10.png"/><Relationship Id="rId16" Type="http://schemas.openxmlformats.org/officeDocument/2006/relationships/image" Target="../media/image27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9.png"/><Relationship Id="rId19" Type="http://schemas.openxmlformats.org/officeDocument/2006/relationships/image" Target="../media/image28.png"/><Relationship Id="rId4" Type="http://schemas.openxmlformats.org/officeDocument/2006/relationships/image" Target="../media/image5.png"/><Relationship Id="rId9" Type="http://schemas.openxmlformats.org/officeDocument/2006/relationships/image" Target="../media/image12.png"/><Relationship Id="rId14" Type="http://schemas.openxmlformats.org/officeDocument/2006/relationships/image" Target="../media/image26.png"/><Relationship Id="rId22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4.png"/><Relationship Id="rId21" Type="http://schemas.openxmlformats.org/officeDocument/2006/relationships/image" Target="../media/image15.png"/><Relationship Id="rId7" Type="http://schemas.openxmlformats.org/officeDocument/2006/relationships/image" Target="../media/image7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image" Target="../media/image10.png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2.png"/><Relationship Id="rId5" Type="http://schemas.openxmlformats.org/officeDocument/2006/relationships/image" Target="../media/image5.png"/><Relationship Id="rId15" Type="http://schemas.openxmlformats.org/officeDocument/2006/relationships/image" Target="../media/image34.png"/><Relationship Id="rId10" Type="http://schemas.openxmlformats.org/officeDocument/2006/relationships/image" Target="../media/image9.png"/><Relationship Id="rId19" Type="http://schemas.openxmlformats.org/officeDocument/2006/relationships/image" Target="../media/image38.png"/><Relationship Id="rId4" Type="http://schemas.openxmlformats.org/officeDocument/2006/relationships/image" Target="../media/image11.png"/><Relationship Id="rId9" Type="http://schemas.openxmlformats.org/officeDocument/2006/relationships/image" Target="../media/image12.png"/><Relationship Id="rId1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41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" Type="http://schemas.openxmlformats.org/officeDocument/2006/relationships/image" Target="../media/image10.png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5" Type="http://schemas.openxmlformats.org/officeDocument/2006/relationships/image" Target="../media/image43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2.png"/><Relationship Id="rId14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4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2.png"/><Relationship Id="rId1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47.png"/><Relationship Id="rId17" Type="http://schemas.openxmlformats.org/officeDocument/2006/relationships/image" Target="../media/image38.png"/><Relationship Id="rId2" Type="http://schemas.openxmlformats.org/officeDocument/2006/relationships/image" Target="../media/image10.png"/><Relationship Id="rId16" Type="http://schemas.openxmlformats.org/officeDocument/2006/relationships/image" Target="../media/image35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5" Type="http://schemas.openxmlformats.org/officeDocument/2006/relationships/image" Target="../media/image48.png"/><Relationship Id="rId10" Type="http://schemas.openxmlformats.org/officeDocument/2006/relationships/image" Target="../media/image9.png"/><Relationship Id="rId19" Type="http://schemas.openxmlformats.org/officeDocument/2006/relationships/image" Target="../media/image49.png"/><Relationship Id="rId4" Type="http://schemas.openxmlformats.org/officeDocument/2006/relationships/image" Target="../media/image5.png"/><Relationship Id="rId9" Type="http://schemas.openxmlformats.org/officeDocument/2006/relationships/image" Target="../media/image12.png"/><Relationship Id="rId1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16893" y="4930326"/>
            <a:ext cx="1790743" cy="1009954"/>
          </a:xfrm>
          <a:custGeom>
            <a:avLst/>
            <a:gdLst/>
            <a:ahLst/>
            <a:cxnLst/>
            <a:rect l="l" t="t" r="r" b="b"/>
            <a:pathLst>
              <a:path w="1790743" h="1009954">
                <a:moveTo>
                  <a:pt x="0" y="0"/>
                </a:moveTo>
                <a:lnTo>
                  <a:pt x="1790744" y="0"/>
                </a:lnTo>
                <a:lnTo>
                  <a:pt x="1790744" y="1009954"/>
                </a:lnTo>
                <a:lnTo>
                  <a:pt x="0" y="1009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36677" y="6563781"/>
            <a:ext cx="8229600" cy="743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1"/>
              </a:lnSpc>
            </a:pPr>
            <a:r>
              <a:rPr lang="en-US" sz="4771" b="1" spc="46" dirty="0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TEAM NAME : </a:t>
            </a:r>
            <a:r>
              <a:rPr lang="en-US" sz="4771" spc="50" dirty="0">
                <a:solidFill>
                  <a:srgbClr val="161F3E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Syntax Squad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6677" y="4655619"/>
            <a:ext cx="15087600" cy="807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48"/>
              </a:lnSpc>
            </a:pPr>
            <a:r>
              <a:rPr lang="en-US" sz="5148" b="1" spc="50">
                <a:solidFill>
                  <a:srgbClr val="1A2651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PROBLEM STATEMENT TITLE : </a:t>
            </a:r>
            <a:r>
              <a:rPr lang="en-US" sz="5148" spc="50">
                <a:solidFill>
                  <a:srgbClr val="161F3E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ProofChain: Verifiable Records &amp; Tamper Detection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6677" y="3700840"/>
            <a:ext cx="6250076" cy="807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48"/>
              </a:lnSpc>
            </a:pPr>
            <a:r>
              <a:rPr lang="en-US" sz="5148" b="1" spc="50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DOMAIN &amp; NO :</a:t>
            </a:r>
            <a:r>
              <a:rPr lang="en-US" sz="5148" b="1" spc="50">
                <a:solidFill>
                  <a:srgbClr val="161F3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  </a:t>
            </a:r>
            <a:r>
              <a:rPr lang="en-US" sz="5148" spc="50">
                <a:solidFill>
                  <a:srgbClr val="161F3E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3, B-01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677" y="7525335"/>
            <a:ext cx="2119254" cy="707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2"/>
              </a:lnSpc>
            </a:pPr>
            <a:r>
              <a:rPr lang="en-US" sz="4472" b="1" spc="43" dirty="0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TEAM ID :</a:t>
            </a:r>
          </a:p>
        </p:txBody>
      </p:sp>
      <p:sp>
        <p:nvSpPr>
          <p:cNvPr id="7" name="Freeform 7"/>
          <p:cNvSpPr/>
          <p:nvPr/>
        </p:nvSpPr>
        <p:spPr>
          <a:xfrm>
            <a:off x="16127273" y="239946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7" y="0"/>
                </a:lnTo>
                <a:lnTo>
                  <a:pt x="2160727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94418" y="366545"/>
            <a:ext cx="4010276" cy="2096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06"/>
              </a:lnSpc>
            </a:pPr>
            <a:r>
              <a:rPr lang="en-US" sz="13306" b="1" spc="129">
                <a:solidFill>
                  <a:srgbClr val="3C3B56">
                    <a:alpha val="84706"/>
                  </a:srgbClr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VORTEXA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86268" y="366545"/>
            <a:ext cx="1413653" cy="2096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06"/>
              </a:lnSpc>
            </a:pPr>
            <a:r>
              <a:rPr lang="en-US" sz="13306" b="1" spc="129">
                <a:solidFill>
                  <a:srgbClr val="7F5E87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3.0</a:t>
            </a:r>
          </a:p>
        </p:txBody>
      </p:sp>
      <p:sp>
        <p:nvSpPr>
          <p:cNvPr id="10" name="Freeform 10"/>
          <p:cNvSpPr/>
          <p:nvPr/>
        </p:nvSpPr>
        <p:spPr>
          <a:xfrm>
            <a:off x="427876" y="2201546"/>
            <a:ext cx="5496285" cy="239623"/>
          </a:xfrm>
          <a:custGeom>
            <a:avLst/>
            <a:gdLst/>
            <a:ahLst/>
            <a:cxnLst/>
            <a:rect l="l" t="t" r="r" b="b"/>
            <a:pathLst>
              <a:path w="5496285" h="239623">
                <a:moveTo>
                  <a:pt x="0" y="0"/>
                </a:moveTo>
                <a:lnTo>
                  <a:pt x="5496285" y="0"/>
                </a:lnTo>
                <a:lnTo>
                  <a:pt x="5496285" y="239623"/>
                </a:lnTo>
                <a:lnTo>
                  <a:pt x="0" y="239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181496" y="1747988"/>
            <a:ext cx="2453149" cy="57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8"/>
              </a:lnSpc>
            </a:pPr>
            <a:r>
              <a:rPr lang="en-US" sz="3608" b="1" spc="89">
                <a:solidFill>
                  <a:srgbClr val="3F3F3F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12 HRS HACKATHON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6677" y="2531879"/>
            <a:ext cx="2119254" cy="431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721" b="1" spc="67">
                <a:solidFill>
                  <a:srgbClr val="161F3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POWERED BY </a:t>
            </a:r>
            <a:r>
              <a:rPr lang="en-US" sz="2721" b="1" spc="67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A.I.R.S</a:t>
            </a:r>
          </a:p>
        </p:txBody>
      </p:sp>
      <p:sp>
        <p:nvSpPr>
          <p:cNvPr id="13" name="Freeform 13"/>
          <p:cNvSpPr/>
          <p:nvPr/>
        </p:nvSpPr>
        <p:spPr>
          <a:xfrm>
            <a:off x="0" y="-303755"/>
            <a:ext cx="1750048" cy="10607152"/>
          </a:xfrm>
          <a:custGeom>
            <a:avLst/>
            <a:gdLst/>
            <a:ahLst/>
            <a:cxnLst/>
            <a:rect l="l" t="t" r="r" b="b"/>
            <a:pathLst>
              <a:path w="1750048" h="10607152">
                <a:moveTo>
                  <a:pt x="0" y="0"/>
                </a:moveTo>
                <a:lnTo>
                  <a:pt x="1750048" y="0"/>
                </a:lnTo>
                <a:lnTo>
                  <a:pt x="1750048" y="10607153"/>
                </a:lnTo>
                <a:lnTo>
                  <a:pt x="0" y="106071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85" r="-3785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4" name="Freeform 14"/>
          <p:cNvSpPr/>
          <p:nvPr/>
        </p:nvSpPr>
        <p:spPr>
          <a:xfrm>
            <a:off x="14361330" y="6635716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739803" y="7046873"/>
            <a:ext cx="5548197" cy="3256525"/>
          </a:xfrm>
          <a:custGeom>
            <a:avLst/>
            <a:gdLst/>
            <a:ahLst/>
            <a:cxnLst/>
            <a:rect l="l" t="t" r="r" b="b"/>
            <a:pathLst>
              <a:path w="5548197" h="3256525">
                <a:moveTo>
                  <a:pt x="0" y="0"/>
                </a:moveTo>
                <a:lnTo>
                  <a:pt x="5548197" y="0"/>
                </a:lnTo>
                <a:lnTo>
                  <a:pt x="5548197" y="3256525"/>
                </a:lnTo>
                <a:lnTo>
                  <a:pt x="0" y="32565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9154" b="-3059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975464" y="5455062"/>
            <a:ext cx="1312536" cy="4088563"/>
          </a:xfrm>
          <a:custGeom>
            <a:avLst/>
            <a:gdLst/>
            <a:ahLst/>
            <a:cxnLst/>
            <a:rect l="l" t="t" r="r" b="b"/>
            <a:pathLst>
              <a:path w="1312536" h="4088563">
                <a:moveTo>
                  <a:pt x="0" y="0"/>
                </a:moveTo>
                <a:lnTo>
                  <a:pt x="1312536" y="0"/>
                </a:lnTo>
                <a:lnTo>
                  <a:pt x="1312536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706941" y="7046873"/>
            <a:ext cx="1104718" cy="2372241"/>
          </a:xfrm>
          <a:custGeom>
            <a:avLst/>
            <a:gdLst/>
            <a:ahLst/>
            <a:cxnLst/>
            <a:rect l="l" t="t" r="r" b="b"/>
            <a:pathLst>
              <a:path w="1104718" h="2372241">
                <a:moveTo>
                  <a:pt x="0" y="0"/>
                </a:moveTo>
                <a:lnTo>
                  <a:pt x="1104718" y="0"/>
                </a:lnTo>
                <a:lnTo>
                  <a:pt x="110471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727951" y="2550929"/>
            <a:ext cx="3560049" cy="1756785"/>
          </a:xfrm>
          <a:custGeom>
            <a:avLst/>
            <a:gdLst/>
            <a:ahLst/>
            <a:cxnLst/>
            <a:rect l="l" t="t" r="r" b="b"/>
            <a:pathLst>
              <a:path w="3560049" h="1756785">
                <a:moveTo>
                  <a:pt x="0" y="0"/>
                </a:moveTo>
                <a:lnTo>
                  <a:pt x="3560049" y="0"/>
                </a:lnTo>
                <a:lnTo>
                  <a:pt x="3560049" y="1756784"/>
                </a:lnTo>
                <a:lnTo>
                  <a:pt x="0" y="17567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7000"/>
            </a:blip>
            <a:stretch>
              <a:fillRect/>
            </a:stretch>
          </a:blipFill>
        </p:spPr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EEFA10-D8B0-3531-E5CB-459A200D20B1}"/>
              </a:ext>
            </a:extLst>
          </p:cNvPr>
          <p:cNvSpPr txBox="1"/>
          <p:nvPr/>
        </p:nvSpPr>
        <p:spPr>
          <a:xfrm>
            <a:off x="2261921" y="7370400"/>
            <a:ext cx="30002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Heading Now 31-38" panose="020B0604020202020204" charset="0"/>
              </a:rPr>
              <a:t>AY22KBYW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639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584732" y="334731"/>
            <a:ext cx="13898880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PROBLEM STATEMENT</a:t>
            </a:r>
          </a:p>
        </p:txBody>
      </p:sp>
      <p:sp>
        <p:nvSpPr>
          <p:cNvPr id="11" name="Freeform 11"/>
          <p:cNvSpPr/>
          <p:nvPr/>
        </p:nvSpPr>
        <p:spPr>
          <a:xfrm>
            <a:off x="622258" y="1069579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</a:blip>
            <a:stretch>
              <a:fillRect/>
            </a:stretch>
          </a:blipFill>
        </p:spPr>
      </p:sp>
      <p:sp>
        <p:nvSpPr>
          <p:cNvPr id="101" name="Tagline"/>
          <p:cNvSpPr txBox="1"/>
          <p:nvPr/>
        </p:nvSpPr>
        <p:spPr>
          <a:xfrm>
            <a:off x="548640" y="1650000"/>
            <a:ext cx="15400000" cy="4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2600" b="1" i="0" dirty="0">
                <a:solidFill>
                  <a:srgbClr val="4E4A76"/>
                </a:solidFill>
                <a:latin typeface="Heading Now 31-38 Bold"/>
              </a:rPr>
              <a:t>Records are only as trustworthy as the custodian holding them</a:t>
            </a:r>
          </a:p>
        </p:txBody>
      </p:sp>
      <p:sp>
        <p:nvSpPr>
          <p:cNvPr id="102" name="Label TODAY"/>
          <p:cNvSpPr/>
          <p:nvPr/>
        </p:nvSpPr>
        <p:spPr>
          <a:xfrm>
            <a:off x="548640" y="2480000"/>
            <a:ext cx="10000000" cy="520000"/>
          </a:xfrm>
          <a:prstGeom prst="rect">
            <a:avLst/>
          </a:prstGeom>
          <a:solidFill>
            <a:srgbClr val="161F3E"/>
          </a:solidFill>
          <a:ln>
            <a:noFill/>
          </a:ln>
        </p:spPr>
        <p:txBody>
          <a:bodyPr lIns="91440" tIns="45720" rIns="91440" bIns="45720" rtlCol="0" anchor="ctr">
            <a:normAutofit/>
          </a:bodyPr>
          <a:lstStyle/>
          <a:p>
            <a:pPr algn="l"/>
            <a:r>
              <a:rPr lang="en-US" sz="2400" b="1" i="0" dirty="0">
                <a:solidFill>
                  <a:srgbClr val="FFFFFF"/>
                </a:solidFill>
                <a:latin typeface="Heading Now 31-38 Bold"/>
              </a:rPr>
              <a:t>TODAY: THE CUSTODIAN HOLDS EVERYTHING</a:t>
            </a:r>
          </a:p>
        </p:txBody>
      </p:sp>
      <p:sp>
        <p:nvSpPr>
          <p:cNvPr id="103" name="Card how trust breaks"/>
          <p:cNvSpPr/>
          <p:nvPr/>
        </p:nvSpPr>
        <p:spPr>
          <a:xfrm>
            <a:off x="548640" y="3400000"/>
            <a:ext cx="9000000" cy="370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lIns="91440" tIns="45720" rIns="91440" bIns="45720" rtlCol="0" anchor="ctr">
            <a:normAutofit/>
          </a:bodyPr>
          <a:lstStyle/>
          <a:p>
            <a:pPr algn="ctr"/>
            <a:endParaRPr lang="en-US"/>
          </a:p>
        </p:txBody>
      </p:sp>
      <p:sp>
        <p:nvSpPr>
          <p:cNvPr id="104" name="Icon tile"/>
          <p:cNvSpPr/>
          <p:nvPr/>
        </p:nvSpPr>
        <p:spPr>
          <a:xfrm>
            <a:off x="828640" y="3720000"/>
            <a:ext cx="603504" cy="603504"/>
          </a:xfrm>
          <a:prstGeom prst="ellipse">
            <a:avLst/>
          </a:prstGeom>
          <a:solidFill>
            <a:srgbClr val="E6EEFB"/>
          </a:solidFill>
          <a:ln>
            <a:noFill/>
          </a:ln>
        </p:spPr>
        <p:txBody>
          <a:bodyPr lIns="91440" tIns="45720" rIns="91440" bIns="45720" rtlCol="0" anchor="ctr">
            <a:normAutofit/>
          </a:bodyPr>
          <a:lstStyle/>
          <a:p>
            <a:pPr algn="ctr"/>
            <a:endParaRPr lang="en-US"/>
          </a:p>
        </p:txBody>
      </p:sp>
      <p:pic>
        <p:nvPicPr>
          <p:cNvPr id="105" name="Icon Database" descr="c_FaDatabase_BLU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9516" y="3870876"/>
            <a:ext cx="301752" cy="301752"/>
          </a:xfrm>
          <a:prstGeom prst="rect">
            <a:avLst/>
          </a:prstGeom>
        </p:spPr>
      </p:pic>
      <p:sp>
        <p:nvSpPr>
          <p:cNvPr id="106" name="Row heading"/>
          <p:cNvSpPr txBox="1"/>
          <p:nvPr/>
        </p:nvSpPr>
        <p:spPr>
          <a:xfrm>
            <a:off x="1698640" y="3630000"/>
            <a:ext cx="7550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b="1" i="0" dirty="0">
                <a:solidFill>
                  <a:srgbClr val="0F172A"/>
                </a:solidFill>
                <a:latin typeface="Arial"/>
              </a:rPr>
              <a:t>One custodian holds everything</a:t>
            </a:r>
          </a:p>
        </p:txBody>
      </p:sp>
      <p:sp>
        <p:nvSpPr>
          <p:cNvPr id="107" name="Row text"/>
          <p:cNvSpPr txBox="1"/>
          <p:nvPr/>
        </p:nvSpPr>
        <p:spPr>
          <a:xfrm>
            <a:off x="1698640" y="3990000"/>
            <a:ext cx="7550000" cy="6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b="0" i="0" dirty="0">
                <a:solidFill>
                  <a:srgbClr val="475569"/>
                </a:solidFill>
                <a:latin typeface="Arial"/>
              </a:rPr>
              <a:t>Certificates, contracts and official records sit with a single university, registry or department, so anyone relying on them must trust its database.</a:t>
            </a:r>
          </a:p>
        </p:txBody>
      </p:sp>
      <p:sp>
        <p:nvSpPr>
          <p:cNvPr id="108" name="Icon tile"/>
          <p:cNvSpPr/>
          <p:nvPr/>
        </p:nvSpPr>
        <p:spPr>
          <a:xfrm>
            <a:off x="828640" y="4870000"/>
            <a:ext cx="603504" cy="603504"/>
          </a:xfrm>
          <a:prstGeom prst="ellipse">
            <a:avLst/>
          </a:prstGeom>
          <a:solidFill>
            <a:srgbClr val="EEE7FB"/>
          </a:solidFill>
          <a:ln>
            <a:noFill/>
          </a:ln>
        </p:spPr>
        <p:txBody>
          <a:bodyPr lIns="91440" tIns="45720" rIns="91440" bIns="45720" rtlCol="0" anchor="ctr">
            <a:normAutofit/>
          </a:bodyPr>
          <a:lstStyle/>
          <a:p>
            <a:pPr algn="ctr"/>
            <a:endParaRPr lang="en-US"/>
          </a:p>
        </p:txBody>
      </p:sp>
      <p:pic>
        <p:nvPicPr>
          <p:cNvPr id="109" name="Icon Fingerprint" descr="c_FaFingerprint_PURPL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9516" y="5020876"/>
            <a:ext cx="301752" cy="301752"/>
          </a:xfrm>
          <a:prstGeom prst="rect">
            <a:avLst/>
          </a:prstGeom>
        </p:spPr>
      </p:pic>
      <p:sp>
        <p:nvSpPr>
          <p:cNvPr id="110" name="Row heading"/>
          <p:cNvSpPr txBox="1"/>
          <p:nvPr/>
        </p:nvSpPr>
        <p:spPr>
          <a:xfrm>
            <a:off x="1698640" y="4780000"/>
            <a:ext cx="7550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b="1" i="0" dirty="0">
                <a:solidFill>
                  <a:srgbClr val="0F172A"/>
                </a:solidFill>
                <a:latin typeface="Arial"/>
              </a:rPr>
              <a:t>The common fix: store a hash</a:t>
            </a:r>
          </a:p>
        </p:txBody>
      </p:sp>
      <p:sp>
        <p:nvSpPr>
          <p:cNvPr id="111" name="Row text"/>
          <p:cNvSpPr txBox="1"/>
          <p:nvPr/>
        </p:nvSpPr>
        <p:spPr>
          <a:xfrm>
            <a:off x="1698640" y="5140000"/>
            <a:ext cx="7550000" cy="6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b="0" i="0" dirty="0">
                <a:solidFill>
                  <a:srgbClr val="475569"/>
                </a:solidFill>
                <a:latin typeface="Arial"/>
              </a:rPr>
              <a:t>A fingerprint (hash) of each record is kept beside it, so any change should show up as a mismatch.</a:t>
            </a:r>
          </a:p>
        </p:txBody>
      </p:sp>
      <p:sp>
        <p:nvSpPr>
          <p:cNvPr id="112" name="Icon tile"/>
          <p:cNvSpPr/>
          <p:nvPr/>
        </p:nvSpPr>
        <p:spPr>
          <a:xfrm>
            <a:off x="828640" y="6020000"/>
            <a:ext cx="603504" cy="603504"/>
          </a:xfrm>
          <a:prstGeom prst="ellipse">
            <a:avLst/>
          </a:prstGeom>
          <a:solidFill>
            <a:srgbClr val="FDEBDD"/>
          </a:solidFill>
          <a:ln>
            <a:noFill/>
          </a:ln>
        </p:spPr>
        <p:txBody>
          <a:bodyPr lIns="91440" tIns="45720" rIns="91440" bIns="45720" rtlCol="0" anchor="ctr">
            <a:normAutofit/>
          </a:bodyPr>
          <a:lstStyle/>
          <a:p>
            <a:pPr algn="ctr"/>
            <a:endParaRPr lang="en-US"/>
          </a:p>
        </p:txBody>
      </p:sp>
      <p:pic>
        <p:nvPicPr>
          <p:cNvPr id="113" name="Icon Ban" descr="c_FaBan_R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9516" y="6170876"/>
            <a:ext cx="301752" cy="301752"/>
          </a:xfrm>
          <a:prstGeom prst="rect">
            <a:avLst/>
          </a:prstGeom>
        </p:spPr>
      </p:pic>
      <p:sp>
        <p:nvSpPr>
          <p:cNvPr id="114" name="Row heading"/>
          <p:cNvSpPr txBox="1"/>
          <p:nvPr/>
        </p:nvSpPr>
        <p:spPr>
          <a:xfrm>
            <a:off x="1698640" y="5930000"/>
            <a:ext cx="7550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b="1" i="0" dirty="0">
                <a:solidFill>
                  <a:srgbClr val="0F172A"/>
                </a:solidFill>
                <a:latin typeface="Arial"/>
              </a:rPr>
              <a:t>The catch: same database, same editor</a:t>
            </a:r>
          </a:p>
        </p:txBody>
      </p:sp>
      <p:sp>
        <p:nvSpPr>
          <p:cNvPr id="115" name="Row text"/>
          <p:cNvSpPr txBox="1"/>
          <p:nvPr/>
        </p:nvSpPr>
        <p:spPr>
          <a:xfrm>
            <a:off x="1698640" y="6290000"/>
            <a:ext cx="7550000" cy="6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b="0" i="0" dirty="0">
                <a:solidFill>
                  <a:srgbClr val="475569"/>
                </a:solidFill>
                <a:latin typeface="Arial"/>
              </a:rPr>
              <a:t>Whoever can edit the record can edit the hash too, so after tampering the two still agree.</a:t>
            </a:r>
          </a:p>
        </p:txBody>
      </p:sp>
      <p:sp>
        <p:nvSpPr>
          <p:cNvPr id="116" name="Card insider attack"/>
          <p:cNvSpPr/>
          <p:nvPr/>
        </p:nvSpPr>
        <p:spPr>
          <a:xfrm>
            <a:off x="9850000" y="3400000"/>
            <a:ext cx="7520000" cy="370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lIns="91440" tIns="45720" rIns="91440" bIns="45720" rtlCol="0" anchor="ctr">
            <a:normAutofit/>
          </a:bodyPr>
          <a:lstStyle/>
          <a:p>
            <a:pPr algn="ctr"/>
            <a:endParaRPr lang="en-US"/>
          </a:p>
        </p:txBody>
      </p:sp>
      <p:sp>
        <p:nvSpPr>
          <p:cNvPr id="117" name="Card caption"/>
          <p:cNvSpPr txBox="1"/>
          <p:nvPr/>
        </p:nvSpPr>
        <p:spPr>
          <a:xfrm>
            <a:off x="10150000" y="3580000"/>
            <a:ext cx="692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b="1" i="0" spc="100" dirty="0">
                <a:solidFill>
                  <a:srgbClr val="475569"/>
                </a:solidFill>
                <a:latin typeface="Arial"/>
              </a:rPr>
              <a:t>ONE DATABASE, ONE EDITOR</a:t>
            </a:r>
          </a:p>
        </p:txBody>
      </p:sp>
      <p:sp>
        <p:nvSpPr>
          <p:cNvPr id="118" name="Database container"/>
          <p:cNvSpPr/>
          <p:nvPr/>
        </p:nvSpPr>
        <p:spPr>
          <a:xfrm>
            <a:off x="10150000" y="3960000"/>
            <a:ext cx="6920000" cy="150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dash"/>
          </a:ln>
        </p:spPr>
        <p:txBody>
          <a:bodyPr lIns="91440" tIns="45720" rIns="91440" bIns="45720" rtlCol="0" anchor="ctr">
            <a:normAutofit/>
          </a:bodyPr>
          <a:lstStyle/>
          <a:p>
            <a:pPr algn="ctr"/>
            <a:endParaRPr lang="en-US"/>
          </a:p>
        </p:txBody>
      </p:sp>
      <p:sp>
        <p:nvSpPr>
          <p:cNvPr id="119" name="Container label"/>
          <p:cNvSpPr txBox="1"/>
          <p:nvPr/>
        </p:nvSpPr>
        <p:spPr>
          <a:xfrm>
            <a:off x="10350000" y="4050000"/>
            <a:ext cx="6520000" cy="23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i="0" dirty="0">
                <a:solidFill>
                  <a:srgbClr val="64748B"/>
                </a:solidFill>
                <a:latin typeface="Arial"/>
              </a:rPr>
              <a:t>Custodian's database</a:t>
            </a:r>
          </a:p>
        </p:txBody>
      </p:sp>
      <p:sp>
        <p:nvSpPr>
          <p:cNvPr id="120" name="Chip record"/>
          <p:cNvSpPr/>
          <p:nvPr/>
        </p:nvSpPr>
        <p:spPr>
          <a:xfrm>
            <a:off x="10460000" y="4440000"/>
            <a:ext cx="2700000" cy="900000"/>
          </a:xfrm>
          <a:prstGeom prst="roundRect">
            <a:avLst>
              <a:gd name="adj" fmla="val 2500"/>
            </a:avLst>
          </a:prstGeom>
          <a:solidFill>
            <a:srgbClr val="E6EEFB"/>
          </a:solidFill>
          <a:ln w="12700">
            <a:solidFill>
              <a:srgbClr val="CBD5E1"/>
            </a:solidFill>
          </a:ln>
        </p:spPr>
        <p:txBody>
          <a:bodyPr lIns="91440" tIns="45720" rIns="91440" bIns="45720" rtlCol="0" anchor="ctr">
            <a:normAutofit/>
          </a:bodyPr>
          <a:lstStyle/>
          <a:p>
            <a:pPr algn="ctr"/>
            <a:r>
              <a:rPr lang="en-US" sz="1600" b="1" i="0" dirty="0">
                <a:solidFill>
                  <a:srgbClr val="0F172A"/>
                </a:solidFill>
                <a:latin typeface="Arial"/>
              </a:rPr>
              <a:t>Record</a:t>
            </a:r>
          </a:p>
          <a:p>
            <a:pPr algn="ctr"/>
            <a:r>
              <a:rPr lang="en-US" sz="1400" b="0" i="0" dirty="0">
                <a:solidFill>
                  <a:srgbClr val="475569"/>
                </a:solidFill>
                <a:latin typeface="Arial"/>
              </a:rPr>
              <a:t>certificate.pdf</a:t>
            </a:r>
          </a:p>
        </p:txBody>
      </p:sp>
      <p:sp>
        <p:nvSpPr>
          <p:cNvPr id="121" name="Equals sign"/>
          <p:cNvSpPr txBox="1"/>
          <p:nvPr/>
        </p:nvSpPr>
        <p:spPr>
          <a:xfrm>
            <a:off x="13160000" y="4440000"/>
            <a:ext cx="900000" cy="9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3200" b="1" i="0" dirty="0">
                <a:solidFill>
                  <a:srgbClr val="475569"/>
                </a:solidFill>
                <a:latin typeface="Arial"/>
              </a:rPr>
              <a:t>=</a:t>
            </a:r>
          </a:p>
        </p:txBody>
      </p:sp>
      <p:sp>
        <p:nvSpPr>
          <p:cNvPr id="122" name="Chip hash"/>
          <p:cNvSpPr/>
          <p:nvPr/>
        </p:nvSpPr>
        <p:spPr>
          <a:xfrm>
            <a:off x="14060000" y="4440000"/>
            <a:ext cx="2700000" cy="900000"/>
          </a:xfrm>
          <a:prstGeom prst="roundRect">
            <a:avLst>
              <a:gd name="adj" fmla="val 2500"/>
            </a:avLst>
          </a:prstGeom>
          <a:solidFill>
            <a:srgbClr val="EEE7FB"/>
          </a:solidFill>
          <a:ln w="12700">
            <a:solidFill>
              <a:srgbClr val="CBD5E1"/>
            </a:solidFill>
          </a:ln>
        </p:spPr>
        <p:txBody>
          <a:bodyPr lIns="91440" tIns="45720" rIns="91440" bIns="45720" rtlCol="0" anchor="ctr">
            <a:normAutofit/>
          </a:bodyPr>
          <a:lstStyle/>
          <a:p>
            <a:pPr algn="ctr"/>
            <a:r>
              <a:rPr lang="en-US" sz="1600" b="1" i="0" dirty="0">
                <a:solidFill>
                  <a:srgbClr val="0F172A"/>
                </a:solidFill>
                <a:latin typeface="Arial"/>
              </a:rPr>
              <a:t>Hash</a:t>
            </a:r>
          </a:p>
          <a:p>
            <a:pPr algn="ctr"/>
            <a:r>
              <a:rPr lang="en-US" sz="1400" b="0" i="0" dirty="0">
                <a:solidFill>
                  <a:srgbClr val="475569"/>
                </a:solidFill>
                <a:latin typeface="Courier New"/>
              </a:rPr>
              <a:t>9f2c…e1a7</a:t>
            </a:r>
          </a:p>
        </p:txBody>
      </p:sp>
      <p:sp>
        <p:nvSpPr>
          <p:cNvPr id="123" name="Pill insider"/>
          <p:cNvSpPr/>
          <p:nvPr/>
        </p:nvSpPr>
        <p:spPr>
          <a:xfrm>
            <a:off x="10210000" y="5760000"/>
            <a:ext cx="2900000" cy="600000"/>
          </a:xfrm>
          <a:prstGeom prst="roundRect">
            <a:avLst>
              <a:gd name="adj" fmla="val 2500"/>
            </a:avLst>
          </a:prstGeom>
          <a:solidFill>
            <a:srgbClr val="FDEBDD"/>
          </a:solidFill>
          <a:ln>
            <a:noFill/>
          </a:ln>
        </p:spPr>
        <p:txBody>
          <a:bodyPr lIns="91440" tIns="45720" rIns="91440" bIns="45720" rtlCol="0" anchor="ctr">
            <a:normAutofit/>
          </a:bodyPr>
          <a:lstStyle/>
          <a:p>
            <a:pPr algn="ctr"/>
            <a:r>
              <a:rPr lang="en-US" sz="1400" b="1" i="0" dirty="0">
                <a:solidFill>
                  <a:srgbClr val="9A3412"/>
                </a:solidFill>
                <a:latin typeface="Arial"/>
              </a:rPr>
              <a:t>Insider edits both</a:t>
            </a:r>
          </a:p>
        </p:txBody>
      </p:sp>
      <p:sp>
        <p:nvSpPr>
          <p:cNvPr id="124" name="Arrow"/>
          <p:cNvSpPr/>
          <p:nvPr/>
        </p:nvSpPr>
        <p:spPr>
          <a:xfrm>
            <a:off x="13260000" y="5910000"/>
            <a:ext cx="400000" cy="3000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txBody>
          <a:bodyPr lIns="91440" tIns="45720" rIns="91440" bIns="45720" rtlCol="0" anchor="ctr">
            <a:normAutofit fontScale="25000" lnSpcReduction="20000"/>
          </a:bodyPr>
          <a:lstStyle/>
          <a:p>
            <a:pPr algn="ctr"/>
            <a:endParaRPr lang="en-US"/>
          </a:p>
        </p:txBody>
      </p:sp>
      <p:sp>
        <p:nvSpPr>
          <p:cNvPr id="125" name="Pill match"/>
          <p:cNvSpPr/>
          <p:nvPr/>
        </p:nvSpPr>
        <p:spPr>
          <a:xfrm>
            <a:off x="13810000" y="5760000"/>
            <a:ext cx="3200000" cy="600000"/>
          </a:xfrm>
          <a:prstGeom prst="roundRect">
            <a:avLst>
              <a:gd name="adj" fmla="val 2500"/>
            </a:avLst>
          </a:prstGeom>
          <a:solidFill>
            <a:srgbClr val="E3F3E8"/>
          </a:solidFill>
          <a:ln>
            <a:noFill/>
          </a:ln>
        </p:spPr>
        <p:txBody>
          <a:bodyPr lIns="91440" tIns="45720" rIns="91440" bIns="45720" rtlCol="0" anchor="ctr">
            <a:normAutofit/>
          </a:bodyPr>
          <a:lstStyle/>
          <a:p>
            <a:pPr algn="ctr"/>
            <a:r>
              <a:rPr lang="en-US" sz="1400" b="1" i="0" dirty="0">
                <a:solidFill>
                  <a:srgbClr val="166534"/>
                </a:solidFill>
                <a:latin typeface="Arial"/>
              </a:rPr>
              <a:t>Check still says MATCH</a:t>
            </a:r>
          </a:p>
        </p:txBody>
      </p:sp>
      <p:sp>
        <p:nvSpPr>
          <p:cNvPr id="126" name="Card takeaway"/>
          <p:cNvSpPr txBox="1"/>
          <p:nvPr/>
        </p:nvSpPr>
        <p:spPr>
          <a:xfrm>
            <a:off x="10150000" y="6560000"/>
            <a:ext cx="692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400" b="1" i="1" dirty="0">
                <a:solidFill>
                  <a:srgbClr val="161F3E"/>
                </a:solidFill>
                <a:latin typeface="Arial"/>
              </a:rPr>
              <a:t>A match proves only that the custodian agrees with itself.</a:t>
            </a:r>
          </a:p>
        </p:txBody>
      </p:sp>
      <p:sp>
        <p:nvSpPr>
          <p:cNvPr id="127" name="Card requirements"/>
          <p:cNvSpPr/>
          <p:nvPr/>
        </p:nvSpPr>
        <p:spPr>
          <a:xfrm>
            <a:off x="548640" y="7350000"/>
            <a:ext cx="16821360" cy="210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lIns="91440" tIns="45720" rIns="91440" bIns="45720" rtlCol="0" anchor="ctr">
            <a:normAutofit/>
          </a:bodyPr>
          <a:lstStyle/>
          <a:p>
            <a:pPr algn="ctr"/>
            <a:endParaRPr lang="en-US"/>
          </a:p>
        </p:txBody>
      </p:sp>
      <p:sp>
        <p:nvSpPr>
          <p:cNvPr id="128" name="Strip caption"/>
          <p:cNvSpPr txBox="1"/>
          <p:nvPr/>
        </p:nvSpPr>
        <p:spPr>
          <a:xfrm>
            <a:off x="848640" y="7520000"/>
            <a:ext cx="6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b="1" i="0" spc="100" dirty="0">
                <a:solidFill>
                  <a:srgbClr val="475569"/>
                </a:solidFill>
                <a:latin typeface="Arial"/>
              </a:rPr>
              <a:t>WHAT A FIX MUST DELIVER</a:t>
            </a:r>
          </a:p>
        </p:txBody>
      </p:sp>
      <p:sp>
        <p:nvSpPr>
          <p:cNvPr id="129" name="Icon tile"/>
          <p:cNvSpPr/>
          <p:nvPr/>
        </p:nvSpPr>
        <p:spPr>
          <a:xfrm>
            <a:off x="848640" y="7910000"/>
            <a:ext cx="603504" cy="603504"/>
          </a:xfrm>
          <a:prstGeom prst="ellipse">
            <a:avLst/>
          </a:prstGeom>
          <a:solidFill>
            <a:srgbClr val="E3F3E8"/>
          </a:solidFill>
          <a:ln>
            <a:noFill/>
          </a:ln>
        </p:spPr>
        <p:txBody>
          <a:bodyPr lIns="91440" tIns="45720" rIns="91440" bIns="45720" rtlCol="0" anchor="ctr">
            <a:normAutofit/>
          </a:bodyPr>
          <a:lstStyle/>
          <a:p>
            <a:pPr algn="ctr"/>
            <a:endParaRPr lang="en-US"/>
          </a:p>
        </p:txBody>
      </p:sp>
      <p:pic>
        <p:nvPicPr>
          <p:cNvPr id="130" name="Icon ShieldAlt" descr="c_FaShieldAlt_GREEN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9516" y="8060876"/>
            <a:ext cx="301752" cy="301752"/>
          </a:xfrm>
          <a:prstGeom prst="rect">
            <a:avLst/>
          </a:prstGeom>
        </p:spPr>
      </p:pic>
      <p:sp>
        <p:nvSpPr>
          <p:cNvPr id="131" name="Column heading"/>
          <p:cNvSpPr txBox="1"/>
          <p:nvPr/>
        </p:nvSpPr>
        <p:spPr>
          <a:xfrm>
            <a:off x="1598640" y="7910000"/>
            <a:ext cx="44571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600" b="1" i="0" dirty="0">
                <a:solidFill>
                  <a:srgbClr val="0F172A"/>
                </a:solidFill>
                <a:latin typeface="Arial"/>
              </a:rPr>
              <a:t>Verify without trusting</a:t>
            </a:r>
          </a:p>
        </p:txBody>
      </p:sp>
      <p:sp>
        <p:nvSpPr>
          <p:cNvPr id="132" name="Column text"/>
          <p:cNvSpPr txBox="1"/>
          <p:nvPr/>
        </p:nvSpPr>
        <p:spPr>
          <a:xfrm>
            <a:off x="848640" y="8600000"/>
            <a:ext cx="5107120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b="0" i="0" dirty="0">
                <a:solidFill>
                  <a:srgbClr val="475569"/>
                </a:solidFill>
                <a:latin typeface="Arial"/>
              </a:rPr>
              <a:t>An outsider can check one document using only the document, a proof and a published reference.</a:t>
            </a:r>
          </a:p>
        </p:txBody>
      </p:sp>
      <p:sp>
        <p:nvSpPr>
          <p:cNvPr id="133" name="Icon tile"/>
          <p:cNvSpPr/>
          <p:nvPr/>
        </p:nvSpPr>
        <p:spPr>
          <a:xfrm>
            <a:off x="6255760" y="7910000"/>
            <a:ext cx="603504" cy="603504"/>
          </a:xfrm>
          <a:prstGeom prst="ellipse">
            <a:avLst/>
          </a:prstGeom>
          <a:solidFill>
            <a:srgbClr val="FDEBDD"/>
          </a:solidFill>
          <a:ln>
            <a:noFill/>
          </a:ln>
        </p:spPr>
        <p:txBody>
          <a:bodyPr lIns="91440" tIns="45720" rIns="91440" bIns="45720" rtlCol="0" anchor="ctr">
            <a:normAutofit/>
          </a:bodyPr>
          <a:lstStyle/>
          <a:p>
            <a:pPr algn="ctr"/>
            <a:endParaRPr lang="en-US"/>
          </a:p>
        </p:txBody>
      </p:sp>
      <p:pic>
        <p:nvPicPr>
          <p:cNvPr id="134" name="Icon Search" descr="c_FaSearch_ORAN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6636" y="8060876"/>
            <a:ext cx="301752" cy="301752"/>
          </a:xfrm>
          <a:prstGeom prst="rect">
            <a:avLst/>
          </a:prstGeom>
        </p:spPr>
      </p:pic>
      <p:sp>
        <p:nvSpPr>
          <p:cNvPr id="135" name="Column heading"/>
          <p:cNvSpPr txBox="1"/>
          <p:nvPr/>
        </p:nvSpPr>
        <p:spPr>
          <a:xfrm>
            <a:off x="7005760" y="7910000"/>
            <a:ext cx="44571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600" b="1" i="0" dirty="0">
                <a:solidFill>
                  <a:srgbClr val="0F172A"/>
                </a:solidFill>
                <a:latin typeface="Arial"/>
              </a:rPr>
              <a:t>Know why a check failed</a:t>
            </a:r>
          </a:p>
        </p:txBody>
      </p:sp>
      <p:sp>
        <p:nvSpPr>
          <p:cNvPr id="136" name="Column text"/>
          <p:cNvSpPr txBox="1"/>
          <p:nvPr/>
        </p:nvSpPr>
        <p:spPr>
          <a:xfrm>
            <a:off x="6255760" y="8600000"/>
            <a:ext cx="5107120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b="0" i="0" dirty="0">
                <a:solidFill>
                  <a:srgbClr val="475569"/>
                </a:solidFill>
                <a:latin typeface="Arial"/>
              </a:rPr>
              <a:t>A rejection names the exact check that failed, not just a bare no.</a:t>
            </a:r>
          </a:p>
        </p:txBody>
      </p:sp>
      <p:sp>
        <p:nvSpPr>
          <p:cNvPr id="137" name="Icon tile"/>
          <p:cNvSpPr/>
          <p:nvPr/>
        </p:nvSpPr>
        <p:spPr>
          <a:xfrm>
            <a:off x="11662880" y="7910000"/>
            <a:ext cx="603504" cy="603504"/>
          </a:xfrm>
          <a:prstGeom prst="ellipse">
            <a:avLst/>
          </a:prstGeom>
          <a:solidFill>
            <a:srgbClr val="EEE7FB"/>
          </a:solidFill>
          <a:ln>
            <a:noFill/>
          </a:ln>
        </p:spPr>
        <p:txBody>
          <a:bodyPr lIns="91440" tIns="45720" rIns="91440" bIns="45720" rtlCol="0" anchor="ctr">
            <a:normAutofit/>
          </a:bodyPr>
          <a:lstStyle/>
          <a:p>
            <a:pPr algn="ctr"/>
            <a:endParaRPr lang="en-US"/>
          </a:p>
        </p:txBody>
      </p:sp>
      <p:pic>
        <p:nvPicPr>
          <p:cNvPr id="138" name="Icon LayerGroup" descr="c_FaLayerGroup_PURPL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813756" y="8060876"/>
            <a:ext cx="301752" cy="301752"/>
          </a:xfrm>
          <a:prstGeom prst="rect">
            <a:avLst/>
          </a:prstGeom>
        </p:spPr>
      </p:pic>
      <p:sp>
        <p:nvSpPr>
          <p:cNvPr id="139" name="Column heading"/>
          <p:cNvSpPr txBox="1"/>
          <p:nvPr/>
        </p:nvSpPr>
        <p:spPr>
          <a:xfrm>
            <a:off x="12412880" y="7910000"/>
            <a:ext cx="44571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600" b="1" i="0" dirty="0">
                <a:solidFill>
                  <a:srgbClr val="0F172A"/>
                </a:solidFill>
                <a:latin typeface="Arial"/>
              </a:rPr>
              <a:t>No silent rewrites</a:t>
            </a:r>
          </a:p>
        </p:txBody>
      </p:sp>
      <p:sp>
        <p:nvSpPr>
          <p:cNvPr id="140" name="Column text"/>
          <p:cNvSpPr txBox="1"/>
          <p:nvPr/>
        </p:nvSpPr>
        <p:spPr>
          <a:xfrm>
            <a:off x="11662880" y="8600000"/>
            <a:ext cx="5107120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b="0" i="0" dirty="0">
                <a:solidFill>
                  <a:srgbClr val="475569"/>
                </a:solidFill>
                <a:latin typeface="Arial"/>
              </a:rPr>
              <a:t>The reference sits where the registry cannot quietly change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566928" y="237744"/>
            <a:ext cx="13898880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7500" b="1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IDEA TITLE / PROPOSED SOLUTION</a:t>
            </a:r>
          </a:p>
        </p:txBody>
      </p:sp>
      <p:sp>
        <p:nvSpPr>
          <p:cNvPr id="11" name="Freeform 11"/>
          <p:cNvSpPr/>
          <p:nvPr/>
        </p:nvSpPr>
        <p:spPr>
          <a:xfrm>
            <a:off x="457200" y="1170432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</a:blip>
            <a:stretch>
              <a:fillRect/>
            </a:stretch>
          </a:blipFill>
        </p:spPr>
      </p:sp>
      <p:sp>
        <p:nvSpPr>
          <p:cNvPr id="14" name="Label SOLUTION"/>
          <p:cNvSpPr/>
          <p:nvPr/>
        </p:nvSpPr>
        <p:spPr>
          <a:xfrm>
            <a:off x="548640" y="1874519"/>
            <a:ext cx="2651760" cy="502920"/>
          </a:xfrm>
          <a:prstGeom prst="rect">
            <a:avLst/>
          </a:prstGeom>
          <a:solidFill>
            <a:srgbClr val="161F3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874519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 dirty="0">
                <a:solidFill>
                  <a:srgbClr val="FFFFFF"/>
                </a:solidFill>
                <a:latin typeface="Heading Now 31-38 Bold"/>
              </a:rPr>
              <a:t>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560320"/>
            <a:ext cx="804672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F2937"/>
                </a:solidFill>
                <a:latin typeface="Arial"/>
              </a:rPr>
              <a:t>ProofChain</a:t>
            </a:r>
            <a:r>
              <a:rPr sz="1600" b="0" i="0" dirty="0">
                <a:solidFill>
                  <a:srgbClr val="1F2937"/>
                </a:solidFill>
                <a:latin typeface="Arial"/>
              </a:rPr>
              <a:t> moves the trust anchor out of the custodian's hands: documents are fingerprinted with SHA-256, batched into Merkle trees, and each root is published where the registry cannot silently rewrite it.</a:t>
            </a:r>
          </a:p>
        </p:txBody>
      </p:sp>
      <p:sp>
        <p:nvSpPr>
          <p:cNvPr id="17" name="Oval 16"/>
          <p:cNvSpPr/>
          <p:nvPr/>
        </p:nvSpPr>
        <p:spPr>
          <a:xfrm>
            <a:off x="585216" y="3611880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3520440"/>
            <a:ext cx="777240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F2937"/>
                </a:solidFill>
                <a:latin typeface="Arial"/>
              </a:rPr>
              <a:t>Problem: </a:t>
            </a:r>
            <a:r>
              <a:rPr sz="1450" b="0" i="0">
                <a:solidFill>
                  <a:srgbClr val="1F2937"/>
                </a:solidFill>
                <a:latin typeface="Arial"/>
              </a:rPr>
              <a:t>a custodian stores both the record and its fingerprint, so whoever can edit one can edit the other. The stored value proves nothing to an outsider.</a:t>
            </a:r>
          </a:p>
        </p:txBody>
      </p:sp>
      <p:sp>
        <p:nvSpPr>
          <p:cNvPr id="19" name="Oval 18"/>
          <p:cNvSpPr/>
          <p:nvPr/>
        </p:nvSpPr>
        <p:spPr>
          <a:xfrm>
            <a:off x="585216" y="4270248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" y="4178808"/>
            <a:ext cx="777240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F2937"/>
                </a:solidFill>
                <a:latin typeface="Arial"/>
              </a:rPr>
              <a:t>Our solution: </a:t>
            </a:r>
            <a:r>
              <a:rPr sz="1450" b="0" i="0">
                <a:solidFill>
                  <a:srgbClr val="1F2937"/>
                </a:solidFill>
                <a:latin typeface="Arial"/>
              </a:rPr>
              <a:t>SHA-256 fingerprints, Merkle batches, signed roots on an independent ledger, and an offline verifier that needs only the document, proof and root.</a:t>
            </a:r>
          </a:p>
        </p:txBody>
      </p:sp>
      <p:sp>
        <p:nvSpPr>
          <p:cNvPr id="21" name="Oval 20"/>
          <p:cNvSpPr/>
          <p:nvPr/>
        </p:nvSpPr>
        <p:spPr>
          <a:xfrm>
            <a:off x="585216" y="4928616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" y="4837176"/>
            <a:ext cx="777240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F2937"/>
                </a:solidFill>
                <a:latin typeface="Arial"/>
              </a:rPr>
              <a:t>How it works: </a:t>
            </a:r>
            <a:r>
              <a:rPr sz="1450" b="0" i="0">
                <a:solidFill>
                  <a:srgbClr val="1F2937"/>
                </a:solidFill>
                <a:latin typeface="Arial"/>
              </a:rPr>
              <a:t>each record gets a short membership proof (about 640 B for 1M records); the verifier recomputes the root and names the exact check that failed.</a:t>
            </a:r>
          </a:p>
        </p:txBody>
      </p:sp>
      <p:sp>
        <p:nvSpPr>
          <p:cNvPr id="23" name="Oval 22"/>
          <p:cNvSpPr/>
          <p:nvPr/>
        </p:nvSpPr>
        <p:spPr>
          <a:xfrm>
            <a:off x="585216" y="5586983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" y="5495544"/>
            <a:ext cx="777240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F2937"/>
                </a:solidFill>
                <a:latin typeface="Arial"/>
              </a:rPr>
              <a:t>Innovation: </a:t>
            </a:r>
            <a:r>
              <a:rPr sz="1450" b="0" i="0">
                <a:solidFill>
                  <a:srgbClr val="1F2937"/>
                </a:solidFill>
                <a:latin typeface="Arial"/>
              </a:rPr>
              <a:t>the verdict never depends on the registry database; AI helps with metadata and explanations but never touches the verdict.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1928083"/>
            <a:ext cx="7562942" cy="4069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Label SOLUTION FLOW"/>
          <p:cNvSpPr/>
          <p:nvPr/>
        </p:nvSpPr>
        <p:spPr>
          <a:xfrm>
            <a:off x="9372600" y="2057400"/>
            <a:ext cx="3200400" cy="457200"/>
          </a:xfrm>
          <a:prstGeom prst="rect">
            <a:avLst/>
          </a:prstGeom>
          <a:solidFill>
            <a:srgbClr val="161F3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0" y="205740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ading Now 31-38 Bold"/>
              </a:rPr>
              <a:t>SOLUTION FLOW</a:t>
            </a:r>
          </a:p>
        </p:txBody>
      </p:sp>
      <p:sp>
        <p:nvSpPr>
          <p:cNvPr id="28" name="Step 1"/>
          <p:cNvSpPr/>
          <p:nvPr/>
        </p:nvSpPr>
        <p:spPr>
          <a:xfrm>
            <a:off x="9418320" y="2825496"/>
            <a:ext cx="384048" cy="384048"/>
          </a:xfrm>
          <a:prstGeom prst="ellipse">
            <a:avLst/>
          </a:prstGeom>
          <a:solidFill>
            <a:srgbClr val="161F3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18320" y="28254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9509760" y="3246120"/>
            <a:ext cx="201168" cy="18288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Icon tile"/>
          <p:cNvSpPr/>
          <p:nvPr/>
        </p:nvSpPr>
        <p:spPr>
          <a:xfrm>
            <a:off x="10058400" y="2734056"/>
            <a:ext cx="603504" cy="603504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Icon Fingerprint" descr="c_FaFingerprint_BLU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09276" y="2884932"/>
            <a:ext cx="301752" cy="30175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835640" y="2679192"/>
            <a:ext cx="484632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Arial"/>
              </a:rPr>
              <a:t>Fingerprint</a:t>
            </a:r>
          </a:p>
          <a:p>
            <a:pPr algn="l"/>
            <a:r>
              <a:rPr sz="1300" b="0" i="0">
                <a:solidFill>
                  <a:srgbClr val="475569"/>
                </a:solidFill>
                <a:latin typeface="Arial"/>
              </a:rPr>
              <a:t>Canonical form of each document is hashed with SHA-256, so every verifier derives identical bytes</a:t>
            </a:r>
          </a:p>
        </p:txBody>
      </p:sp>
      <p:sp>
        <p:nvSpPr>
          <p:cNvPr id="34" name="Step 2"/>
          <p:cNvSpPr/>
          <p:nvPr/>
        </p:nvSpPr>
        <p:spPr>
          <a:xfrm>
            <a:off x="9418320" y="3630168"/>
            <a:ext cx="384048" cy="384048"/>
          </a:xfrm>
          <a:prstGeom prst="ellipse">
            <a:avLst/>
          </a:prstGeom>
          <a:solidFill>
            <a:srgbClr val="161F3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18320" y="36301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9509760" y="4050791"/>
            <a:ext cx="201168" cy="18288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Icon tile"/>
          <p:cNvSpPr/>
          <p:nvPr/>
        </p:nvSpPr>
        <p:spPr>
          <a:xfrm>
            <a:off x="10058400" y="3538728"/>
            <a:ext cx="603504" cy="603504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Icon Sitemap" descr="c_FaSitemap_PURPL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09276" y="3689604"/>
            <a:ext cx="301752" cy="30175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835640" y="3483864"/>
            <a:ext cx="484632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0F172A"/>
                </a:solidFill>
                <a:latin typeface="Arial"/>
              </a:rPr>
              <a:t>Merkle batch + proof</a:t>
            </a:r>
          </a:p>
          <a:p>
            <a:pPr algn="l"/>
            <a:r>
              <a:rPr sz="1300" b="0" i="0" dirty="0">
                <a:solidFill>
                  <a:srgbClr val="475569"/>
                </a:solidFill>
                <a:latin typeface="Arial"/>
              </a:rPr>
              <a:t>Fingerprints roll into one root per batch; every record gets a short membership proof</a:t>
            </a:r>
          </a:p>
        </p:txBody>
      </p:sp>
      <p:sp>
        <p:nvSpPr>
          <p:cNvPr id="40" name="Step 3"/>
          <p:cNvSpPr/>
          <p:nvPr/>
        </p:nvSpPr>
        <p:spPr>
          <a:xfrm>
            <a:off x="9418320" y="4434840"/>
            <a:ext cx="384048" cy="384048"/>
          </a:xfrm>
          <a:prstGeom prst="ellipse">
            <a:avLst/>
          </a:prstGeom>
          <a:solidFill>
            <a:srgbClr val="161F3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18320" y="44348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2" name="Down Arrow 41"/>
          <p:cNvSpPr/>
          <p:nvPr/>
        </p:nvSpPr>
        <p:spPr>
          <a:xfrm>
            <a:off x="9509760" y="4855464"/>
            <a:ext cx="201168" cy="18288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Icon tile"/>
          <p:cNvSpPr/>
          <p:nvPr/>
        </p:nvSpPr>
        <p:spPr>
          <a:xfrm>
            <a:off x="10058400" y="4343400"/>
            <a:ext cx="603504" cy="603504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Icon Globe" descr="c_FaGlobe_ORAN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09276" y="4494276"/>
            <a:ext cx="301752" cy="30175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835640" y="4288536"/>
            <a:ext cx="484632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Arial"/>
              </a:rPr>
              <a:t>Publish signed root</a:t>
            </a:r>
          </a:p>
          <a:p>
            <a:pPr algn="l"/>
            <a:r>
              <a:rPr sz="1300" b="0" i="0">
                <a:solidFill>
                  <a:srgbClr val="475569"/>
                </a:solidFill>
                <a:latin typeface="Arial"/>
              </a:rPr>
              <a:t>Ed25519-signed, hash-chained, timestamped checkpoint goes to an independent ledger and mirrors</a:t>
            </a:r>
          </a:p>
        </p:txBody>
      </p:sp>
      <p:sp>
        <p:nvSpPr>
          <p:cNvPr id="46" name="Step 4"/>
          <p:cNvSpPr/>
          <p:nvPr/>
        </p:nvSpPr>
        <p:spPr>
          <a:xfrm>
            <a:off x="9418320" y="5239512"/>
            <a:ext cx="384048" cy="384048"/>
          </a:xfrm>
          <a:prstGeom prst="ellipse">
            <a:avLst/>
          </a:prstGeom>
          <a:solidFill>
            <a:srgbClr val="161F3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418320" y="52395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8" name="Icon tile"/>
          <p:cNvSpPr/>
          <p:nvPr/>
        </p:nvSpPr>
        <p:spPr>
          <a:xfrm>
            <a:off x="10058400" y="5148072"/>
            <a:ext cx="603504" cy="603504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Icon ShieldAlt" descr="c_FaShieldAlt_GREEN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09276" y="5298948"/>
            <a:ext cx="301752" cy="301752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835640" y="5093208"/>
            <a:ext cx="484632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Arial"/>
              </a:rPr>
              <a:t>Offline verification</a:t>
            </a:r>
          </a:p>
          <a:p>
            <a:pPr algn="l"/>
            <a:r>
              <a:rPr sz="1300" b="0" i="0">
                <a:solidFill>
                  <a:srgbClr val="475569"/>
                </a:solidFill>
                <a:latin typeface="Arial"/>
              </a:rPr>
              <a:t>Document + proof + published root → verdict with exact failure codes. No database, no AI, no network</a:t>
            </a:r>
          </a:p>
        </p:txBody>
      </p:sp>
      <p:sp>
        <p:nvSpPr>
          <p:cNvPr id="51" name="Label WHY WE STAND OUT?"/>
          <p:cNvSpPr/>
          <p:nvPr/>
        </p:nvSpPr>
        <p:spPr>
          <a:xfrm>
            <a:off x="548640" y="6309360"/>
            <a:ext cx="3840480" cy="502920"/>
          </a:xfrm>
          <a:prstGeom prst="rect">
            <a:avLst/>
          </a:prstGeom>
          <a:solidFill>
            <a:srgbClr val="161F3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48640" y="630936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Heading Now 31-38 Bold"/>
              </a:rPr>
              <a:t>WHY WE STAND OUT?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6858000"/>
            <a:ext cx="4069080" cy="2377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Icon tile"/>
          <p:cNvSpPr/>
          <p:nvPr/>
        </p:nvSpPr>
        <p:spPr>
          <a:xfrm>
            <a:off x="749808" y="7040880"/>
            <a:ext cx="658368" cy="658368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55" name="Icon LayerGroup" descr="c_FaLayerGroup_PURPL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4400" y="7205472"/>
            <a:ext cx="329184" cy="32918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554480" y="7040880"/>
            <a:ext cx="2926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Arial"/>
              </a:rPr>
              <a:t>Records and reference kept apart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808" y="7818120"/>
            <a:ext cx="37033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Arial"/>
              </a:rPr>
              <a:t>The registry, the published roots and the verifier are separate, so a hacked registry cannot change what the verifier accepts.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800600" y="6858000"/>
            <a:ext cx="4069080" cy="2377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Icon tile"/>
          <p:cNvSpPr/>
          <p:nvPr/>
        </p:nvSpPr>
        <p:spPr>
          <a:xfrm>
            <a:off x="5001768" y="7040880"/>
            <a:ext cx="658368" cy="658368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0" name="Icon Search" descr="c_FaSearch_ORAN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66359" y="7205472"/>
            <a:ext cx="329184" cy="329184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5806440" y="7040880"/>
            <a:ext cx="2926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Arial"/>
              </a:rPr>
              <a:t>Clear failure reasons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01768" y="7818120"/>
            <a:ext cx="37033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Arial"/>
              </a:rPr>
              <a:t>A rejected document comes with the reason: modified file, bad proof or root mismatch.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052560" y="6858000"/>
            <a:ext cx="4069080" cy="2377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Icon tile"/>
          <p:cNvSpPr/>
          <p:nvPr/>
        </p:nvSpPr>
        <p:spPr>
          <a:xfrm>
            <a:off x="9253728" y="7040880"/>
            <a:ext cx="658368" cy="658368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5" name="Icon Sitemap" descr="c_FaSitemap_BLU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18320" y="7205472"/>
            <a:ext cx="329184" cy="329184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0058400" y="7040880"/>
            <a:ext cx="2926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Arial"/>
              </a:rPr>
              <a:t>Standard Merkle design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53728" y="7818120"/>
            <a:ext cx="37033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Arial"/>
              </a:rPr>
              <a:t>Leaves and nodes are hashed differently, which blocks a known attack, and chained log entries expose any rewrite of history.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3304520" y="6858000"/>
            <a:ext cx="4069080" cy="2377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Icon tile"/>
          <p:cNvSpPr/>
          <p:nvPr/>
        </p:nvSpPr>
        <p:spPr>
          <a:xfrm>
            <a:off x="13505688" y="7040880"/>
            <a:ext cx="658368" cy="658368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Icon Robot" descr="c_FaRobot_NAVY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670280" y="7205472"/>
            <a:ext cx="329184" cy="32918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4310360" y="7040880"/>
            <a:ext cx="2926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Arial"/>
              </a:rPr>
              <a:t>AI only suggests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505688" y="7818120"/>
            <a:ext cx="37033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Arial"/>
              </a:rPr>
              <a:t>AI suggests details, a person confirms them, and the verdict is the same with AI switched off.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469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566928" y="237744"/>
            <a:ext cx="13898880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7500" b="1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TECHNICAL APPROACH</a:t>
            </a:r>
          </a:p>
        </p:txBody>
      </p:sp>
      <p:sp>
        <p:nvSpPr>
          <p:cNvPr id="11" name="Freeform 11"/>
          <p:cNvSpPr/>
          <p:nvPr/>
        </p:nvSpPr>
        <p:spPr>
          <a:xfrm>
            <a:off x="457200" y="1170432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Label SYSTEM ARCHITECTURE"/>
          <p:cNvSpPr/>
          <p:nvPr/>
        </p:nvSpPr>
        <p:spPr>
          <a:xfrm>
            <a:off x="548640" y="1874519"/>
            <a:ext cx="4754880" cy="502920"/>
          </a:xfrm>
          <a:prstGeom prst="rect">
            <a:avLst/>
          </a:prstGeom>
          <a:solidFill>
            <a:srgbClr val="161F3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1895146"/>
            <a:ext cx="288036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ading Now 31-38 Bold"/>
              </a:rPr>
              <a:t>SYSTEM 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514600"/>
            <a:ext cx="9601200" cy="5943600"/>
          </a:xfrm>
          <a:prstGeom prst="roundRect">
            <a:avLst>
              <a:gd name="adj" fmla="val 2500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1520" y="2651760"/>
            <a:ext cx="9235440" cy="1261872"/>
          </a:xfrm>
          <a:prstGeom prst="roundRect">
            <a:avLst>
              <a:gd name="adj" fmla="val 2500"/>
            </a:avLst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Icon tile"/>
          <p:cNvSpPr/>
          <p:nvPr/>
        </p:nvSpPr>
        <p:spPr>
          <a:xfrm>
            <a:off x="914400" y="2926079"/>
            <a:ext cx="731520" cy="731520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 Desktop" descr="c_FaDesktop_BLU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7280" y="3108960"/>
            <a:ext cx="365760" cy="3657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874519" y="2743200"/>
            <a:ext cx="7955279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0F172A"/>
                </a:solidFill>
                <a:latin typeface="Arial"/>
              </a:rPr>
              <a:t>FRONTEND · React portal</a:t>
            </a:r>
          </a:p>
          <a:p>
            <a:pPr algn="l"/>
            <a:r>
              <a:rPr sz="1400" b="0" i="0">
                <a:solidFill>
                  <a:srgbClr val="3B4252"/>
                </a:solidFill>
                <a:latin typeface="Arial"/>
              </a:rPr>
              <a:t>Register records, see batch status (pending / sealed / anchored), drop in a document + proof + root to verify, auditor view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303520" y="3931920"/>
            <a:ext cx="201168" cy="18288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1520" y="4114800"/>
            <a:ext cx="9235440" cy="1261872"/>
          </a:xfrm>
          <a:prstGeom prst="roundRect">
            <a:avLst>
              <a:gd name="adj" fmla="val 2500"/>
            </a:avLst>
          </a:prstGeom>
          <a:solidFill>
            <a:srgbClr val="EEE9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Icon tile"/>
          <p:cNvSpPr/>
          <p:nvPr/>
        </p:nvSpPr>
        <p:spPr>
          <a:xfrm>
            <a:off x="914400" y="4389120"/>
            <a:ext cx="731520" cy="731520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Icon Server" descr="c_FaServer_PURPL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7280" y="4572000"/>
            <a:ext cx="365760" cy="365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874519" y="4206240"/>
            <a:ext cx="7955279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0F172A"/>
                </a:solidFill>
                <a:latin typeface="Arial"/>
              </a:rPr>
              <a:t>REGISTRY SERVICE · FastAPI</a:t>
            </a:r>
          </a:p>
          <a:p>
            <a:pPr algn="l"/>
            <a:r>
              <a:rPr sz="1400" b="0" i="0">
                <a:solidFill>
                  <a:srgbClr val="3B4252"/>
                </a:solidFill>
                <a:latin typeface="Arial"/>
              </a:rPr>
              <a:t>Canonicalizer → SHA-256 → batcher + Merkle builder → proof service, plus integrity auditor. PostgreSQL holds documents, leaves, batches, metadata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303520" y="5394960"/>
            <a:ext cx="201168" cy="18288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31520" y="5577840"/>
            <a:ext cx="9235440" cy="1261872"/>
          </a:xfrm>
          <a:prstGeom prst="roundRect">
            <a:avLst>
              <a:gd name="adj" fmla="val 2500"/>
            </a:avLst>
          </a:prstGeom>
          <a:solidFill>
            <a:srgbClr val="FBEFD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Icon tile"/>
          <p:cNvSpPr/>
          <p:nvPr/>
        </p:nvSpPr>
        <p:spPr>
          <a:xfrm>
            <a:off x="914400" y="5852159"/>
            <a:ext cx="731520" cy="731520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Icon Link" descr="c_FaLink_ORAN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7280" y="6035040"/>
            <a:ext cx="365760" cy="365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874519" y="5669279"/>
            <a:ext cx="7955279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0F172A"/>
                </a:solidFill>
                <a:latin typeface="Arial"/>
              </a:rPr>
              <a:t>ROOT LEDGER · independent</a:t>
            </a:r>
          </a:p>
          <a:p>
            <a:pPr algn="l"/>
            <a:r>
              <a:rPr sz="1400" b="0" i="0">
                <a:solidFill>
                  <a:srgbClr val="3B4252"/>
                </a:solidFill>
                <a:latin typeface="Arial"/>
              </a:rPr>
              <a:t>Append-only, hash-chained checkpoints {root, tree size, prev hash, time}: Ed25519-signed, RFC 3161 timestamped, mirrored to Git + a write-once bucket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5303520" y="6858000"/>
            <a:ext cx="201168" cy="18288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31520" y="7040880"/>
            <a:ext cx="9235440" cy="1261872"/>
          </a:xfrm>
          <a:prstGeom prst="roundRect">
            <a:avLst>
              <a:gd name="adj" fmla="val 2500"/>
            </a:avLst>
          </a:prstGeom>
          <a:solidFill>
            <a:srgbClr val="E8F4E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Icon tile"/>
          <p:cNvSpPr/>
          <p:nvPr/>
        </p:nvSpPr>
        <p:spPr>
          <a:xfrm>
            <a:off x="914400" y="7315200"/>
            <a:ext cx="731520" cy="731520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Icon ShieldAlt" descr="c_FaShieldAlt_GREEN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7280" y="7498080"/>
            <a:ext cx="365760" cy="36576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874519" y="7132320"/>
            <a:ext cx="7955279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0F172A"/>
                </a:solidFill>
                <a:latin typeface="Arial"/>
              </a:rPr>
              <a:t>STANDALONE VERIFIER</a:t>
            </a:r>
          </a:p>
          <a:p>
            <a:pPr algn="l"/>
            <a:r>
              <a:rPr sz="1400" b="0" i="0">
                <a:solidFill>
                  <a:srgbClr val="3B4252"/>
                </a:solidFill>
                <a:latin typeface="Arial"/>
              </a:rPr>
              <a:t>CLI + browser (WebCrypto). document + proof + root → verdict. Fully offline: no registry database, no AI, no network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8595360"/>
            <a:ext cx="9601200" cy="1097280"/>
          </a:xfrm>
          <a:prstGeom prst="roundRect">
            <a:avLst>
              <a:gd name="adj" fmla="val 2500"/>
            </a:avLst>
          </a:prstGeom>
          <a:solidFill>
            <a:srgbClr val="FFFFFF">
              <a:alpha val="92000"/>
            </a:srgbClr>
          </a:solidFill>
          <a:ln w="22225">
            <a:solidFill>
              <a:srgbClr val="C62828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864108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  <a:latin typeface="Arial"/>
              </a:rPr>
              <a:t>SECURITY DESIGN  </a:t>
            </a:r>
            <a:r>
              <a:rPr sz="1400" b="0" i="0">
                <a:solidFill>
                  <a:srgbClr val="3B4252"/>
                </a:solidFill>
                <a:latin typeface="Arial"/>
              </a:rPr>
              <a:t>Domain-separated hashing (0x00 leaf / 0x01 node) · hash-chained checkpoints expose rollback · verifier never consults the registry database · signed, timestamped, mirrored roots · AI never enters the verdict path.</a:t>
            </a:r>
          </a:p>
        </p:txBody>
      </p:sp>
      <p:sp>
        <p:nvSpPr>
          <p:cNvPr id="38" name="Label REQUEST FLOW"/>
          <p:cNvSpPr/>
          <p:nvPr/>
        </p:nvSpPr>
        <p:spPr>
          <a:xfrm>
            <a:off x="10515600" y="1874519"/>
            <a:ext cx="3840480" cy="502920"/>
          </a:xfrm>
          <a:prstGeom prst="rect">
            <a:avLst/>
          </a:prstGeom>
          <a:solidFill>
            <a:srgbClr val="161F3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744200" y="1874519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ading Now 31-38 Bold"/>
              </a:rPr>
              <a:t>REQUEST FLOW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515600" y="2514600"/>
            <a:ext cx="7223760" cy="4069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Step 1"/>
          <p:cNvSpPr/>
          <p:nvPr/>
        </p:nvSpPr>
        <p:spPr>
          <a:xfrm>
            <a:off x="10698480" y="2743200"/>
            <a:ext cx="402336" cy="402336"/>
          </a:xfrm>
          <a:prstGeom prst="ellipse">
            <a:avLst/>
          </a:prstGeom>
          <a:solidFill>
            <a:srgbClr val="0B5C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698480" y="274320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0" y="2651760"/>
            <a:ext cx="62179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1F2937"/>
                </a:solidFill>
                <a:latin typeface="Arial"/>
              </a:rPr>
              <a:t>Document submitted: canonicalized and fingerprinted with SHA-256; AI-suggested metadata is confirmed by a person</a:t>
            </a:r>
          </a:p>
        </p:txBody>
      </p:sp>
      <p:sp>
        <p:nvSpPr>
          <p:cNvPr id="44" name="Step 2"/>
          <p:cNvSpPr/>
          <p:nvPr/>
        </p:nvSpPr>
        <p:spPr>
          <a:xfrm>
            <a:off x="10698480" y="3383279"/>
            <a:ext cx="402336" cy="402336"/>
          </a:xfrm>
          <a:prstGeom prst="ellipse">
            <a:avLst/>
          </a:prstGeom>
          <a:solidFill>
            <a:srgbClr val="0B5C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698480" y="3383279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38560" y="3291839"/>
            <a:ext cx="62179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1F2937"/>
                </a:solidFill>
                <a:latin typeface="Arial"/>
              </a:rPr>
              <a:t>Batch sealed: Merkle tree built, leaf index and tree size stored for every record</a:t>
            </a:r>
          </a:p>
        </p:txBody>
      </p:sp>
      <p:sp>
        <p:nvSpPr>
          <p:cNvPr id="47" name="Step 3"/>
          <p:cNvSpPr/>
          <p:nvPr/>
        </p:nvSpPr>
        <p:spPr>
          <a:xfrm>
            <a:off x="10698480" y="4023359"/>
            <a:ext cx="402336" cy="402336"/>
          </a:xfrm>
          <a:prstGeom prst="ellipse">
            <a:avLst/>
          </a:prstGeom>
          <a:solidFill>
            <a:srgbClr val="0B5C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698480" y="4023359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3931920"/>
            <a:ext cx="62179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1F2937"/>
                </a:solidFill>
                <a:latin typeface="Arial"/>
              </a:rPr>
              <a:t>Signed checkpoint {root, size, prev hash, time} published to the ledger and its mirrors</a:t>
            </a:r>
          </a:p>
        </p:txBody>
      </p:sp>
      <p:sp>
        <p:nvSpPr>
          <p:cNvPr id="50" name="Step 4"/>
          <p:cNvSpPr/>
          <p:nvPr/>
        </p:nvSpPr>
        <p:spPr>
          <a:xfrm>
            <a:off x="10698480" y="4663440"/>
            <a:ext cx="402336" cy="402336"/>
          </a:xfrm>
          <a:prstGeom prst="ellipse">
            <a:avLst/>
          </a:prstGeom>
          <a:solidFill>
            <a:srgbClr val="0B5C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698480" y="466344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0" y="4572000"/>
            <a:ext cx="62179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1F2937"/>
                </a:solidFill>
                <a:latin typeface="Arial"/>
              </a:rPr>
              <a:t>Holder receives a proof bundle: a sibling-hash path of about log2 n hashes</a:t>
            </a:r>
          </a:p>
        </p:txBody>
      </p:sp>
      <p:sp>
        <p:nvSpPr>
          <p:cNvPr id="53" name="Step 5"/>
          <p:cNvSpPr/>
          <p:nvPr/>
        </p:nvSpPr>
        <p:spPr>
          <a:xfrm>
            <a:off x="10698480" y="5303519"/>
            <a:ext cx="402336" cy="402336"/>
          </a:xfrm>
          <a:prstGeom prst="ellipse">
            <a:avLst/>
          </a:prstGeom>
          <a:solidFill>
            <a:srgbClr val="0B5C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698480" y="5303519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338560" y="5212079"/>
            <a:ext cx="62179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1F2937"/>
                </a:solidFill>
                <a:latin typeface="Arial"/>
              </a:rPr>
              <a:t>Verifier recomputes the root from the document + proof and compares it with the published root</a:t>
            </a:r>
          </a:p>
        </p:txBody>
      </p:sp>
      <p:sp>
        <p:nvSpPr>
          <p:cNvPr id="56" name="Step 6"/>
          <p:cNvSpPr/>
          <p:nvPr/>
        </p:nvSpPr>
        <p:spPr>
          <a:xfrm>
            <a:off x="10698480" y="5943600"/>
            <a:ext cx="402336" cy="402336"/>
          </a:xfrm>
          <a:prstGeom prst="ellipse">
            <a:avLst/>
          </a:prstGeom>
          <a:solidFill>
            <a:srgbClr val="0B5CA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698480" y="594360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38560" y="5852160"/>
            <a:ext cx="62179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>
                <a:solidFill>
                  <a:srgbClr val="1F2937"/>
                </a:solidFill>
                <a:latin typeface="Arial"/>
              </a:rPr>
              <a:t>Result: VALID, or the exact failure (DOCUMENT_MODIFIED, INVALID_PROOF, ROOT_MISMATCH)</a:t>
            </a:r>
          </a:p>
        </p:txBody>
      </p:sp>
      <p:sp>
        <p:nvSpPr>
          <p:cNvPr id="59" name="Label TECH STACK"/>
          <p:cNvSpPr/>
          <p:nvPr/>
        </p:nvSpPr>
        <p:spPr>
          <a:xfrm>
            <a:off x="10515600" y="6766560"/>
            <a:ext cx="3291840" cy="502920"/>
          </a:xfrm>
          <a:prstGeom prst="rect">
            <a:avLst/>
          </a:prstGeom>
          <a:solidFill>
            <a:srgbClr val="161F3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744200" y="6766560"/>
            <a:ext cx="3063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ading Now 31-38 Bold"/>
              </a:rPr>
              <a:t>TECH STACK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515600" y="7360920"/>
            <a:ext cx="7223760" cy="2331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Icon tile"/>
          <p:cNvSpPr/>
          <p:nvPr/>
        </p:nvSpPr>
        <p:spPr>
          <a:xfrm>
            <a:off x="10698480" y="7616952"/>
            <a:ext cx="502920" cy="502920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Icon Code" descr="c_FaCode_BLU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24209" y="7742681"/>
            <a:ext cx="251460" cy="25146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1265407" y="7543800"/>
            <a:ext cx="11430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Arial"/>
              </a:rPr>
              <a:t>Python / FastAPI</a:t>
            </a:r>
          </a:p>
        </p:txBody>
      </p:sp>
      <p:sp>
        <p:nvSpPr>
          <p:cNvPr id="65" name="Icon tile"/>
          <p:cNvSpPr/>
          <p:nvPr/>
        </p:nvSpPr>
        <p:spPr>
          <a:xfrm>
            <a:off x="12435840" y="7616952"/>
            <a:ext cx="502920" cy="502920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6" name="Icon Database" descr="c_FaDatabase_BLU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561569" y="7742681"/>
            <a:ext cx="251460" cy="25146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3002767" y="7543800"/>
            <a:ext cx="11430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Arial"/>
              </a:rPr>
              <a:t>PostgreSQL</a:t>
            </a:r>
          </a:p>
        </p:txBody>
      </p:sp>
      <p:sp>
        <p:nvSpPr>
          <p:cNvPr id="68" name="Icon tile"/>
          <p:cNvSpPr/>
          <p:nvPr/>
        </p:nvSpPr>
        <p:spPr>
          <a:xfrm>
            <a:off x="14173200" y="7616952"/>
            <a:ext cx="502920" cy="502920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9" name="Icon Fingerprint" descr="c_FaFingerprint_PURPL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298930" y="7742681"/>
            <a:ext cx="251460" cy="25146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4740128" y="7543800"/>
            <a:ext cx="11430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Arial"/>
              </a:rPr>
              <a:t>SHA-256</a:t>
            </a:r>
          </a:p>
        </p:txBody>
      </p:sp>
      <p:sp>
        <p:nvSpPr>
          <p:cNvPr id="71" name="Icon tile"/>
          <p:cNvSpPr/>
          <p:nvPr/>
        </p:nvSpPr>
        <p:spPr>
          <a:xfrm>
            <a:off x="15910559" y="7616952"/>
            <a:ext cx="502920" cy="502920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2" name="Icon Key" descr="c_FaKey_ORAN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036289" y="7742681"/>
            <a:ext cx="251460" cy="25146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6477488" y="7543800"/>
            <a:ext cx="11430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Arial"/>
              </a:rPr>
              <a:t>Ed25519</a:t>
            </a:r>
          </a:p>
        </p:txBody>
      </p:sp>
      <p:sp>
        <p:nvSpPr>
          <p:cNvPr id="74" name="Icon tile"/>
          <p:cNvSpPr/>
          <p:nvPr/>
        </p:nvSpPr>
        <p:spPr>
          <a:xfrm>
            <a:off x="10698480" y="8668512"/>
            <a:ext cx="502920" cy="502920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5" name="Icon Clock" descr="c_FaClock_GREEN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824209" y="8794242"/>
            <a:ext cx="251460" cy="25146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11265407" y="8595360"/>
            <a:ext cx="11430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Arial"/>
              </a:rPr>
              <a:t>RFC 3161 time</a:t>
            </a:r>
          </a:p>
        </p:txBody>
      </p:sp>
      <p:sp>
        <p:nvSpPr>
          <p:cNvPr id="77" name="Icon tile"/>
          <p:cNvSpPr/>
          <p:nvPr/>
        </p:nvSpPr>
        <p:spPr>
          <a:xfrm>
            <a:off x="12435840" y="8668512"/>
            <a:ext cx="502920" cy="502920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8" name="Icon CodeBranch" descr="c_FaCodeBranch_NAVY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561569" y="8794242"/>
            <a:ext cx="251460" cy="25146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13002767" y="8595360"/>
            <a:ext cx="11430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Arial"/>
              </a:rPr>
              <a:t>Git + WORM mirror</a:t>
            </a:r>
          </a:p>
        </p:txBody>
      </p:sp>
      <p:sp>
        <p:nvSpPr>
          <p:cNvPr id="80" name="Icon tile"/>
          <p:cNvSpPr/>
          <p:nvPr/>
        </p:nvSpPr>
        <p:spPr>
          <a:xfrm>
            <a:off x="14173200" y="8668512"/>
            <a:ext cx="502920" cy="502920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1" name="Icon Desktop" descr="c_FaDesktop_BLU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298930" y="8794242"/>
            <a:ext cx="251460" cy="25146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4740128" y="8595360"/>
            <a:ext cx="11430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Arial"/>
              </a:rPr>
              <a:t>React portal</a:t>
            </a:r>
          </a:p>
        </p:txBody>
      </p:sp>
      <p:sp>
        <p:nvSpPr>
          <p:cNvPr id="83" name="Icon tile"/>
          <p:cNvSpPr/>
          <p:nvPr/>
        </p:nvSpPr>
        <p:spPr>
          <a:xfrm>
            <a:off x="15910559" y="8668512"/>
            <a:ext cx="502920" cy="502920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Icon Robot" descr="c_FaRobot_NAVY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036289" y="8794242"/>
            <a:ext cx="251460" cy="25146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16477488" y="8595360"/>
            <a:ext cx="11430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Arial"/>
              </a:rPr>
              <a:t>LLM adapter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750048" cy="9860652"/>
          </a:xfrm>
          <a:custGeom>
            <a:avLst/>
            <a:gdLst/>
            <a:ahLst/>
            <a:cxnLst/>
            <a:rect l="l" t="t" r="r" b="b"/>
            <a:pathLst>
              <a:path w="1750048" h="9860652">
                <a:moveTo>
                  <a:pt x="0" y="0"/>
                </a:moveTo>
                <a:lnTo>
                  <a:pt x="1750048" y="0"/>
                </a:lnTo>
                <a:lnTo>
                  <a:pt x="1750048" y="9860652"/>
                </a:lnTo>
                <a:lnTo>
                  <a:pt x="0" y="9860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7046873"/>
            <a:ext cx="1312536" cy="3432644"/>
          </a:xfrm>
          <a:custGeom>
            <a:avLst/>
            <a:gdLst/>
            <a:ahLst/>
            <a:cxnLst/>
            <a:rect l="l" t="t" r="r" b="b"/>
            <a:pathLst>
              <a:path w="1312536" h="3432644">
                <a:moveTo>
                  <a:pt x="0" y="0"/>
                </a:moveTo>
                <a:lnTo>
                  <a:pt x="1312536" y="0"/>
                </a:lnTo>
                <a:lnTo>
                  <a:pt x="1312536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59732" y="5455062"/>
            <a:ext cx="5228268" cy="4848336"/>
            <a:chOff x="0" y="0"/>
            <a:chExt cx="6971024" cy="6464448"/>
          </a:xfrm>
        </p:grpSpPr>
        <p:sp>
          <p:nvSpPr>
            <p:cNvPr id="6" name="Freeform 6"/>
            <p:cNvSpPr/>
            <p:nvPr/>
          </p:nvSpPr>
          <p:spPr>
            <a:xfrm>
              <a:off x="1735464" y="1574206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2122415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743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5220976" y="0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8"/>
                  </a:lnTo>
                  <a:lnTo>
                    <a:pt x="0" y="5451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4862945" y="2122415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7" y="0"/>
                  </a:lnTo>
                  <a:lnTo>
                    <a:pt x="1472957" y="3162989"/>
                  </a:lnTo>
                  <a:lnTo>
                    <a:pt x="0" y="3162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566928" y="237744"/>
            <a:ext cx="13898880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7500" b="1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FEASIBILITY AND VIABILITY</a:t>
            </a:r>
          </a:p>
        </p:txBody>
      </p:sp>
      <p:sp>
        <p:nvSpPr>
          <p:cNvPr id="11" name="Freeform 11"/>
          <p:cNvSpPr/>
          <p:nvPr/>
        </p:nvSpPr>
        <p:spPr>
          <a:xfrm>
            <a:off x="457200" y="1170432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Label FEASIBILITY"/>
          <p:cNvSpPr/>
          <p:nvPr/>
        </p:nvSpPr>
        <p:spPr>
          <a:xfrm>
            <a:off x="548640" y="1874519"/>
            <a:ext cx="2926080" cy="502920"/>
          </a:xfrm>
          <a:prstGeom prst="rect">
            <a:avLst/>
          </a:prstGeom>
          <a:solidFill>
            <a:srgbClr val="161F3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874519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Heading Now 31-38 Bold"/>
              </a:rPr>
              <a:t>FEASIBILITY</a:t>
            </a:r>
          </a:p>
        </p:txBody>
      </p:sp>
      <p:sp>
        <p:nvSpPr>
          <p:cNvPr id="16" name="Icon tile"/>
          <p:cNvSpPr/>
          <p:nvPr/>
        </p:nvSpPr>
        <p:spPr>
          <a:xfrm>
            <a:off x="548640" y="2697480"/>
            <a:ext cx="731520" cy="731520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 Microchip" descr="c_FaMicrochip_BLU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1520" y="2880360"/>
            <a:ext cx="365760" cy="365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08760" y="2679192"/>
            <a:ext cx="7223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0F172A"/>
                </a:solidFill>
                <a:latin typeface="Arial"/>
              </a:rPr>
              <a:t>Technical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108960"/>
            <a:ext cx="72237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Arial"/>
              </a:rPr>
              <a:t>Every core piece is a proven standard: SHA-256, RFC 6962-style Merkle trees, Ed25519, RFC 3161 timestamps and RFC 8785 canonical JSON. The team assembles rather than invents.</a:t>
            </a:r>
          </a:p>
        </p:txBody>
      </p:sp>
      <p:sp>
        <p:nvSpPr>
          <p:cNvPr id="20" name="Icon tile"/>
          <p:cNvSpPr/>
          <p:nvPr/>
        </p:nvSpPr>
        <p:spPr>
          <a:xfrm>
            <a:off x="548640" y="4480560"/>
            <a:ext cx="731520" cy="731520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Icon RupeeSign" descr="c_FaRupeeSign_GREE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1520" y="4663440"/>
            <a:ext cx="365760" cy="3657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08760" y="4462272"/>
            <a:ext cx="7223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0F172A"/>
                </a:solidFill>
                <a:latin typeface="Arial"/>
              </a:rPr>
              <a:t>Economic / Resource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892040"/>
            <a:ext cx="72237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Arial"/>
              </a:rPr>
              <a:t>No dataset needed (a systems PS, not ML). Open-source tools only: Python, PostgreSQL, Git. Hashing is cheap and there are no gas fees because no public chain is used.</a:t>
            </a:r>
          </a:p>
        </p:txBody>
      </p:sp>
      <p:sp>
        <p:nvSpPr>
          <p:cNvPr id="24" name="Icon tile"/>
          <p:cNvSpPr/>
          <p:nvPr/>
        </p:nvSpPr>
        <p:spPr>
          <a:xfrm>
            <a:off x="548640" y="6263640"/>
            <a:ext cx="731520" cy="731520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Icon Gavel" descr="c_FaGavel_R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1520" y="6446520"/>
            <a:ext cx="365760" cy="3657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508760" y="6245352"/>
            <a:ext cx="7223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0F172A"/>
                </a:solidFill>
                <a:latin typeface="Arial"/>
              </a:rPr>
              <a:t>Regulatory &amp; Privacy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6675120"/>
            <a:ext cx="72237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Arial"/>
              </a:rPr>
              <a:t>Only hashes are published, so documents stay private and can still be deleted. Positioned as a trust layer for existing registries: it proves a match, not authorship.</a:t>
            </a:r>
          </a:p>
        </p:txBody>
      </p:sp>
      <p:sp>
        <p:nvSpPr>
          <p:cNvPr id="28" name="Icon tile"/>
          <p:cNvSpPr/>
          <p:nvPr/>
        </p:nvSpPr>
        <p:spPr>
          <a:xfrm>
            <a:off x="548640" y="8046720"/>
            <a:ext cx="731520" cy="731520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Icon Bolt" descr="c_FaBolt_ORAN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1520" y="8229600"/>
            <a:ext cx="365760" cy="365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508760" y="8028432"/>
            <a:ext cx="7223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0F172A"/>
                </a:solidFill>
                <a:latin typeface="Arial"/>
              </a:rPr>
              <a:t>Operational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8458200"/>
            <a:ext cx="72237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Arial"/>
              </a:rPr>
              <a:t>Realistic hackathon MVP: register → seal batch → publish checkpoint → verify offline → live tamper demo (edit a document, edit the database, watch the verifier still reject).</a:t>
            </a:r>
          </a:p>
        </p:txBody>
      </p:sp>
      <p:sp>
        <p:nvSpPr>
          <p:cNvPr id="32" name="Label CHALLENGES"/>
          <p:cNvSpPr/>
          <p:nvPr/>
        </p:nvSpPr>
        <p:spPr>
          <a:xfrm>
            <a:off x="9144000" y="1874519"/>
            <a:ext cx="3291840" cy="502920"/>
          </a:xfrm>
          <a:prstGeom prst="rect">
            <a:avLst/>
          </a:prstGeom>
          <a:solidFill>
            <a:srgbClr val="161F3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0" y="1874519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Heading Now 31-38 Bold"/>
              </a:rPr>
              <a:t>CHALLENGES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2542032"/>
            <a:ext cx="8595360" cy="1335024"/>
          </a:xfrm>
          <a:prstGeom prst="roundRect">
            <a:avLst>
              <a:gd name="adj" fmla="val 2500"/>
            </a:avLst>
          </a:prstGeom>
          <a:solidFill>
            <a:srgbClr val="FFFFFF">
              <a:alpha val="92000"/>
            </a:srgbClr>
          </a:solidFill>
          <a:ln w="22225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Icon tile"/>
          <p:cNvSpPr/>
          <p:nvPr/>
        </p:nvSpPr>
        <p:spPr>
          <a:xfrm>
            <a:off x="9326880" y="2871215"/>
            <a:ext cx="694944" cy="694944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Icon Clock" descr="c_FaClock_ORAN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00615" y="3044951"/>
            <a:ext cx="347472" cy="34747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241280" y="2633472"/>
            <a:ext cx="7360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Arial"/>
              </a:rPr>
              <a:t>Pre-anchoring window: a registry could misbehave between sealing a batch and publishing its root</a:t>
            </a:r>
          </a:p>
        </p:txBody>
      </p:sp>
      <p:pic>
        <p:nvPicPr>
          <p:cNvPr id="38" name="Picture 37" descr="c_FaCheck_GREEN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41280" y="3364991"/>
            <a:ext cx="219456" cy="21945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561320" y="3255263"/>
            <a:ext cx="70408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66534"/>
                </a:solidFill>
                <a:latin typeface="Arial"/>
              </a:rPr>
              <a:t>Mitigation: </a:t>
            </a:r>
            <a:r>
              <a:rPr sz="1400" b="0" i="0">
                <a:solidFill>
                  <a:srgbClr val="3B4252"/>
                </a:solidFill>
                <a:latin typeface="Arial"/>
              </a:rPr>
              <a:t>anchor immediately on sealing and add RFC 3161 timestamps.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4005072"/>
            <a:ext cx="8595360" cy="1335024"/>
          </a:xfrm>
          <a:prstGeom prst="roundRect">
            <a:avLst>
              <a:gd name="adj" fmla="val 2500"/>
            </a:avLst>
          </a:prstGeom>
          <a:solidFill>
            <a:srgbClr val="FFFFFF">
              <a:alpha val="92000"/>
            </a:srgbClr>
          </a:solidFill>
          <a:ln w="22225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Icon tile"/>
          <p:cNvSpPr/>
          <p:nvPr/>
        </p:nvSpPr>
        <p:spPr>
          <a:xfrm>
            <a:off x="9326880" y="4334256"/>
            <a:ext cx="694944" cy="694944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Icon Users" descr="c_FaUsers_R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00615" y="4507992"/>
            <a:ext cx="347472" cy="34747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241280" y="4096511"/>
            <a:ext cx="7360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Arial"/>
              </a:rPr>
              <a:t>Ledger operator or witness collusion</a:t>
            </a:r>
          </a:p>
        </p:txBody>
      </p:sp>
      <p:pic>
        <p:nvPicPr>
          <p:cNvPr id="44" name="Picture 43" descr="c_FaCheck_GREEN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41280" y="4828032"/>
            <a:ext cx="219456" cy="21945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561320" y="4718304"/>
            <a:ext cx="70408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66534"/>
                </a:solidFill>
                <a:latin typeface="Arial"/>
              </a:rPr>
              <a:t>Mitigation: </a:t>
            </a:r>
            <a:r>
              <a:rPr sz="1400" b="0" i="0">
                <a:solidFill>
                  <a:srgbClr val="3B4252"/>
                </a:solidFill>
                <a:latin typeface="Arial"/>
              </a:rPr>
              <a:t>mirror checkpoints to 2+ independent stores and add cosigning witnesses.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44000" y="5468112"/>
            <a:ext cx="8595360" cy="1335024"/>
          </a:xfrm>
          <a:prstGeom prst="roundRect">
            <a:avLst>
              <a:gd name="adj" fmla="val 2500"/>
            </a:avLst>
          </a:prstGeom>
          <a:solidFill>
            <a:srgbClr val="FFFFFF">
              <a:alpha val="92000"/>
            </a:srgbClr>
          </a:solidFill>
          <a:ln w="22225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Icon tile"/>
          <p:cNvSpPr/>
          <p:nvPr/>
        </p:nvSpPr>
        <p:spPr>
          <a:xfrm>
            <a:off x="9326880" y="5797296"/>
            <a:ext cx="694944" cy="694944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Icon Key" descr="c_FaKey_R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500615" y="5971032"/>
            <a:ext cx="347472" cy="34747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241280" y="5559552"/>
            <a:ext cx="7360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Arial"/>
              </a:rPr>
              <a:t>Signing-key compromise</a:t>
            </a:r>
          </a:p>
        </p:txBody>
      </p:sp>
      <p:pic>
        <p:nvPicPr>
          <p:cNvPr id="50" name="Picture 49" descr="c_FaCheck_GREEN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41280" y="6291072"/>
            <a:ext cx="219456" cy="21945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561320" y="6181344"/>
            <a:ext cx="70408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66534"/>
                </a:solidFill>
                <a:latin typeface="Arial"/>
              </a:rPr>
              <a:t>Mitigation: </a:t>
            </a:r>
            <a:r>
              <a:rPr sz="1400" b="0" i="0">
                <a:solidFill>
                  <a:srgbClr val="3B4252"/>
                </a:solidFill>
                <a:latin typeface="Arial"/>
              </a:rPr>
              <a:t>HSM/KMS custody and rotation; the hash-chained history stays verifiable.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44000" y="6931152"/>
            <a:ext cx="8595360" cy="1335024"/>
          </a:xfrm>
          <a:prstGeom prst="roundRect">
            <a:avLst>
              <a:gd name="adj" fmla="val 2500"/>
            </a:avLst>
          </a:prstGeom>
          <a:solidFill>
            <a:srgbClr val="FFFFFF">
              <a:alpha val="92000"/>
            </a:srgbClr>
          </a:solidFill>
          <a:ln w="22225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Icon tile"/>
          <p:cNvSpPr/>
          <p:nvPr/>
        </p:nvSpPr>
        <p:spPr>
          <a:xfrm>
            <a:off x="9326880" y="7260336"/>
            <a:ext cx="694944" cy="694944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Icon FileAlt" descr="c_FaFileAlt_PURPL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00615" y="7434072"/>
            <a:ext cx="347472" cy="34747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0241280" y="7022592"/>
            <a:ext cx="7360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Arial"/>
              </a:rPr>
              <a:t>Canonicalization fragility: re-saving a binary file changes its hash</a:t>
            </a:r>
          </a:p>
        </p:txBody>
      </p:sp>
      <p:pic>
        <p:nvPicPr>
          <p:cNvPr id="56" name="Picture 55" descr="c_FaCheck_GREEN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41280" y="7754112"/>
            <a:ext cx="219456" cy="21945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561320" y="7644383"/>
            <a:ext cx="70408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66534"/>
                </a:solidFill>
                <a:latin typeface="Arial"/>
              </a:rPr>
              <a:t>Mitigation: </a:t>
            </a:r>
            <a:r>
              <a:rPr sz="1400" b="0" i="0">
                <a:solidFill>
                  <a:srgbClr val="3B4252"/>
                </a:solidFill>
                <a:latin typeface="Arial"/>
              </a:rPr>
              <a:t>versioned canonical form, exact-byte hashing, version declared in every proof.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144000" y="8394192"/>
            <a:ext cx="8595360" cy="1335024"/>
          </a:xfrm>
          <a:prstGeom prst="roundRect">
            <a:avLst>
              <a:gd name="adj" fmla="val 2500"/>
            </a:avLst>
          </a:prstGeom>
          <a:solidFill>
            <a:srgbClr val="FFFFFF">
              <a:alpha val="92000"/>
            </a:srgbClr>
          </a:solidFill>
          <a:ln w="22225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Icon tile"/>
          <p:cNvSpPr/>
          <p:nvPr/>
        </p:nvSpPr>
        <p:spPr>
          <a:xfrm>
            <a:off x="9326880" y="8723376"/>
            <a:ext cx="694944" cy="694944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0" name="Icon Ban" descr="c_FaBan_R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500615" y="8897111"/>
            <a:ext cx="347472" cy="347472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0241280" y="8485632"/>
            <a:ext cx="7360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Arial"/>
              </a:rPr>
              <a:t>Expectation gap: verification proves a match, not authorship or truth</a:t>
            </a:r>
          </a:p>
        </p:txBody>
      </p:sp>
      <p:pic>
        <p:nvPicPr>
          <p:cNvPr id="62" name="Picture 61" descr="c_FaCheck_GREEN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41280" y="9217152"/>
            <a:ext cx="219456" cy="219456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0561320" y="9107424"/>
            <a:ext cx="70408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66534"/>
                </a:solidFill>
                <a:latin typeface="Arial"/>
              </a:rPr>
              <a:t>Mitigation: </a:t>
            </a:r>
            <a:r>
              <a:rPr sz="1400" b="0" i="0">
                <a:solidFill>
                  <a:srgbClr val="3B4252"/>
                </a:solidFill>
                <a:latin typeface="Arial"/>
              </a:rPr>
              <a:t>state the scope clearly, add issuer signatures next, keep the MVP strict.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566928" y="237744"/>
            <a:ext cx="13898880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7500" b="1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IMPACT AND BENEFITS</a:t>
            </a:r>
          </a:p>
        </p:txBody>
      </p:sp>
      <p:sp>
        <p:nvSpPr>
          <p:cNvPr id="11" name="Freeform 11"/>
          <p:cNvSpPr/>
          <p:nvPr/>
        </p:nvSpPr>
        <p:spPr>
          <a:xfrm>
            <a:off x="457200" y="1170432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49" y="0"/>
                </a:lnTo>
                <a:lnTo>
                  <a:pt x="5020449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Rounded Rectangle 13"/>
          <p:cNvSpPr/>
          <p:nvPr/>
        </p:nvSpPr>
        <p:spPr>
          <a:xfrm>
            <a:off x="548640" y="2514600"/>
            <a:ext cx="5577840" cy="2194560"/>
          </a:xfrm>
          <a:prstGeom prst="roundRect">
            <a:avLst>
              <a:gd name="adj" fmla="val 2500"/>
            </a:avLst>
          </a:prstGeom>
          <a:solidFill>
            <a:srgbClr val="E6F3EA">
              <a:alpha val="95000"/>
            </a:srgbClr>
          </a:solidFill>
          <a:ln w="9525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Icon tile"/>
          <p:cNvSpPr/>
          <p:nvPr/>
        </p:nvSpPr>
        <p:spPr>
          <a:xfrm>
            <a:off x="749808" y="2670048"/>
            <a:ext cx="685800" cy="685800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 User" descr="c_FaUser_GREE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1257" y="2841498"/>
            <a:ext cx="342900" cy="3429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45919" y="2670048"/>
            <a:ext cx="42976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Arial"/>
              </a:rPr>
              <a:t>Document Holder Benefits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520440"/>
            <a:ext cx="51663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>
                <a:solidFill>
                  <a:srgbClr val="374151"/>
                </a:solidFill>
                <a:latin typeface="Arial"/>
              </a:rPr>
              <a:t>Prove a certificate or contract is genuine without asking the issuer: one small proof, checked instantly and offline, with a clear reason if it fails.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2514600"/>
            <a:ext cx="5577840" cy="2194560"/>
          </a:xfrm>
          <a:prstGeom prst="roundRect">
            <a:avLst>
              <a:gd name="adj" fmla="val 2500"/>
            </a:avLst>
          </a:prstGeom>
          <a:solidFill>
            <a:srgbClr val="E6EEFA">
              <a:alpha val="95000"/>
            </a:srgbClr>
          </a:solidFill>
          <a:ln w="9525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Icon tile"/>
          <p:cNvSpPr/>
          <p:nvPr/>
        </p:nvSpPr>
        <p:spPr>
          <a:xfrm>
            <a:off x="6510527" y="2670048"/>
            <a:ext cx="685800" cy="685800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Icon Building" descr="c_FaBuilding_BLU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81977" y="2841498"/>
            <a:ext cx="342900" cy="3429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406640" y="2670048"/>
            <a:ext cx="42976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Arial"/>
              </a:rPr>
              <a:t>Institutional Benefits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7" y="3520440"/>
            <a:ext cx="51663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>
                <a:solidFill>
                  <a:srgbClr val="374151"/>
                </a:solidFill>
                <a:latin typeface="Arial"/>
              </a:rPr>
              <a:t>Employers, banks and universities verify documents without trusting a registry database. Insider tampering becomes detectable and manual verification calls fall.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70080" y="2514600"/>
            <a:ext cx="5577840" cy="2194560"/>
          </a:xfrm>
          <a:prstGeom prst="roundRect">
            <a:avLst>
              <a:gd name="adj" fmla="val 2500"/>
            </a:avLst>
          </a:prstGeom>
          <a:solidFill>
            <a:srgbClr val="FBEFD9">
              <a:alpha val="95000"/>
            </a:srgbClr>
          </a:solidFill>
          <a:ln w="9525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Icon tile"/>
          <p:cNvSpPr/>
          <p:nvPr/>
        </p:nvSpPr>
        <p:spPr>
          <a:xfrm>
            <a:off x="12271248" y="2670048"/>
            <a:ext cx="685800" cy="685800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Icon Landmark" descr="c_FaLandmark_ORAN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442698" y="2841498"/>
            <a:ext cx="342900" cy="3429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167359" y="2670048"/>
            <a:ext cx="42976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Arial"/>
              </a:rPr>
              <a:t>Government / Regulatory Benefits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71248" y="3520440"/>
            <a:ext cx="51663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>
                <a:solidFill>
                  <a:srgbClr val="374151"/>
                </a:solidFill>
                <a:latin typeface="Arial"/>
              </a:rPr>
              <a:t>A tamper-evident trail for official records, with only hashes published for privacy, and a pilot path from one department or registry to state-wide use.</a:t>
            </a:r>
          </a:p>
        </p:txBody>
      </p:sp>
      <p:sp>
        <p:nvSpPr>
          <p:cNvPr id="29" name="Label STAKEHOLDERS &amp; IMPAC"/>
          <p:cNvSpPr/>
          <p:nvPr/>
        </p:nvSpPr>
        <p:spPr>
          <a:xfrm>
            <a:off x="548640" y="4937760"/>
            <a:ext cx="7680960" cy="502920"/>
          </a:xfrm>
          <a:prstGeom prst="rect">
            <a:avLst/>
          </a:prstGeom>
          <a:solidFill>
            <a:srgbClr val="161F3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493776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Heading Now 31-38 Bold"/>
              </a:rPr>
              <a:t>STAKEHOLDERS &amp; IMPACT FLOW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760720"/>
            <a:ext cx="4023360" cy="2011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Step 1"/>
          <p:cNvSpPr/>
          <p:nvPr/>
        </p:nvSpPr>
        <p:spPr>
          <a:xfrm>
            <a:off x="512063" y="5577840"/>
            <a:ext cx="420624" cy="420624"/>
          </a:xfrm>
          <a:prstGeom prst="ellipse">
            <a:avLst/>
          </a:prstGeom>
          <a:solidFill>
            <a:srgbClr val="161F3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12063" y="55778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4" name="Icon tile"/>
          <p:cNvSpPr/>
          <p:nvPr/>
        </p:nvSpPr>
        <p:spPr>
          <a:xfrm>
            <a:off x="749808" y="6035040"/>
            <a:ext cx="640080" cy="640080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Icon User" descr="c_FaUser_GREE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9827" y="6195059"/>
            <a:ext cx="320040" cy="3200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554480" y="603504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Arial"/>
              </a:rPr>
              <a:t>Document Holder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685800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475569"/>
                </a:solidFill>
                <a:latin typeface="Arial"/>
              </a:rPr>
              <a:t>Receives a proof bundle together with the registered record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4663440" y="6675120"/>
            <a:ext cx="182880" cy="237744"/>
          </a:xfrm>
          <a:prstGeom prst="triangle">
            <a:avLst/>
          </a:prstGeom>
          <a:solidFill>
            <a:srgbClr val="6B728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892040" y="5760720"/>
            <a:ext cx="4023360" cy="2011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Step 2"/>
          <p:cNvSpPr/>
          <p:nvPr/>
        </p:nvSpPr>
        <p:spPr>
          <a:xfrm>
            <a:off x="4855464" y="5577840"/>
            <a:ext cx="420624" cy="420624"/>
          </a:xfrm>
          <a:prstGeom prst="ellipse">
            <a:avLst/>
          </a:prstGeom>
          <a:solidFill>
            <a:srgbClr val="161F3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855464" y="55778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2" name="Icon tile"/>
          <p:cNvSpPr/>
          <p:nvPr/>
        </p:nvSpPr>
        <p:spPr>
          <a:xfrm>
            <a:off x="5093207" y="6035040"/>
            <a:ext cx="640080" cy="640080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Icon GraduationCap" descr="c_FaGraduationCap_BLU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53227" y="6195059"/>
            <a:ext cx="320040" cy="32004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897879" y="603504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Arial"/>
              </a:rPr>
              <a:t>Issuer / Registry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93207" y="685800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475569"/>
                </a:solidFill>
                <a:latin typeface="Arial"/>
              </a:rPr>
              <a:t>Registers records; batches are sealed and signed roots published to the ledger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9006840" y="6675120"/>
            <a:ext cx="182880" cy="237744"/>
          </a:xfrm>
          <a:prstGeom prst="triangle">
            <a:avLst/>
          </a:prstGeom>
          <a:solidFill>
            <a:srgbClr val="6B728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9235440" y="5760720"/>
            <a:ext cx="4023360" cy="2011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Step 3"/>
          <p:cNvSpPr/>
          <p:nvPr/>
        </p:nvSpPr>
        <p:spPr>
          <a:xfrm>
            <a:off x="9198864" y="5577840"/>
            <a:ext cx="420624" cy="420624"/>
          </a:xfrm>
          <a:prstGeom prst="ellipse">
            <a:avLst/>
          </a:prstGeom>
          <a:solidFill>
            <a:srgbClr val="161F3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198864" y="55778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0" name="Icon tile"/>
          <p:cNvSpPr/>
          <p:nvPr/>
        </p:nvSpPr>
        <p:spPr>
          <a:xfrm>
            <a:off x="9436608" y="6035040"/>
            <a:ext cx="640080" cy="640080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Icon Eye" descr="c_FaEye_BLU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96628" y="6195059"/>
            <a:ext cx="320040" cy="32004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0241280" y="603504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Arial"/>
              </a:rPr>
              <a:t>Verifier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36608" y="685800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475569"/>
                </a:solidFill>
                <a:latin typeface="Arial"/>
              </a:rPr>
              <a:t>Employer, bank or auditor checks document + proof + root offline: instant verdict, no call to the registry</a:t>
            </a:r>
          </a:p>
        </p:txBody>
      </p:sp>
      <p:sp>
        <p:nvSpPr>
          <p:cNvPr id="54" name="Isosceles Triangle 53"/>
          <p:cNvSpPr/>
          <p:nvPr/>
        </p:nvSpPr>
        <p:spPr>
          <a:xfrm rot="5400000">
            <a:off x="13350240" y="6675120"/>
            <a:ext cx="182880" cy="237744"/>
          </a:xfrm>
          <a:prstGeom prst="triangle">
            <a:avLst/>
          </a:prstGeom>
          <a:solidFill>
            <a:srgbClr val="6B728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13578840" y="5760720"/>
            <a:ext cx="4023360" cy="2011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Step 4"/>
          <p:cNvSpPr/>
          <p:nvPr/>
        </p:nvSpPr>
        <p:spPr>
          <a:xfrm>
            <a:off x="13542264" y="5577840"/>
            <a:ext cx="420624" cy="420624"/>
          </a:xfrm>
          <a:prstGeom prst="ellipse">
            <a:avLst/>
          </a:prstGeom>
          <a:solidFill>
            <a:srgbClr val="161F3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3542264" y="55778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8" name="Icon tile"/>
          <p:cNvSpPr/>
          <p:nvPr/>
        </p:nvSpPr>
        <p:spPr>
          <a:xfrm>
            <a:off x="13780008" y="6035040"/>
            <a:ext cx="640080" cy="640080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59" name="Icon ClipboardCheck" descr="c_FaClipboardCheck_BLU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940028" y="6195059"/>
            <a:ext cx="320040" cy="32004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4584680" y="603504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Arial"/>
              </a:rPr>
              <a:t>Auditor / Witness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780008" y="685800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475569"/>
                </a:solidFill>
                <a:latin typeface="Arial"/>
              </a:rPr>
              <a:t>Mirrors checkpoints, runs integrity audits and flags any divergence from the published roots</a:t>
            </a:r>
          </a:p>
        </p:txBody>
      </p:sp>
      <p:sp>
        <p:nvSpPr>
          <p:cNvPr id="62" name="Label OUR PROMISE"/>
          <p:cNvSpPr/>
          <p:nvPr/>
        </p:nvSpPr>
        <p:spPr>
          <a:xfrm>
            <a:off x="548640" y="7955279"/>
            <a:ext cx="3474720" cy="502920"/>
          </a:xfrm>
          <a:prstGeom prst="rect">
            <a:avLst/>
          </a:prstGeom>
          <a:solidFill>
            <a:srgbClr val="161F3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48640" y="7955279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Heading Now 31-38 Bold"/>
              </a:rPr>
              <a:t>OUR PROMISE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48640" y="8503920"/>
            <a:ext cx="17099280" cy="1234440"/>
          </a:xfrm>
          <a:prstGeom prst="roundRect">
            <a:avLst>
              <a:gd name="adj" fmla="val 2500"/>
            </a:avLst>
          </a:prstGeom>
          <a:solidFill>
            <a:srgbClr val="E8EEF9">
              <a:alpha val="95000"/>
            </a:srgbClr>
          </a:solidFill>
          <a:ln w="9525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22960" y="8540496"/>
            <a:ext cx="16550640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0" i="0">
                <a:solidFill>
                  <a:srgbClr val="1F2937"/>
                </a:solidFill>
                <a:latin typeface="Arial"/>
              </a:rPr>
              <a:t>Records already live with custodians such as universities, land offices and courts. </a:t>
            </a:r>
            <a:r>
              <a:rPr sz="1550" b="1" i="0">
                <a:solidFill>
                  <a:srgbClr val="1F2937"/>
                </a:solidFill>
                <a:latin typeface="Arial"/>
              </a:rPr>
              <a:t>ProofChain</a:t>
            </a:r>
            <a:r>
              <a:rPr sz="1550" b="0" i="0">
                <a:solidFill>
                  <a:srgbClr val="1F2937"/>
                </a:solidFill>
                <a:latin typeface="Arial"/>
              </a:rPr>
              <a:t> is designed as a trust layer that plugs into them, not a replacement: start with a single-registry pilot, then add independent witnesses and issuer signatures.</a:t>
            </a:r>
          </a:p>
          <a:p>
            <a:pPr algn="l"/>
            <a:r>
              <a:rPr sz="1300" b="0" i="1">
                <a:solidFill>
                  <a:srgbClr val="475569"/>
                </a:solidFill>
                <a:latin typeface="Arial"/>
              </a:rPr>
              <a:t>Aligns with UN SDG 9 (Industry, Innovation &amp; Infrastructure) and SDG 16 (Peace, Justice &amp; Strong Institutions): tamper-evident records and audit infrastructure support both.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566928" y="237744"/>
            <a:ext cx="13898880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7500" b="1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DIFFERENTIATOR</a:t>
            </a:r>
          </a:p>
        </p:txBody>
      </p:sp>
      <p:sp>
        <p:nvSpPr>
          <p:cNvPr id="11" name="Freeform 11"/>
          <p:cNvSpPr/>
          <p:nvPr/>
        </p:nvSpPr>
        <p:spPr>
          <a:xfrm>
            <a:off x="457200" y="1170432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49" y="0"/>
                </a:lnTo>
                <a:lnTo>
                  <a:pt x="5020449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Label COMPETITOR LANDSCAPE"/>
          <p:cNvSpPr/>
          <p:nvPr/>
        </p:nvSpPr>
        <p:spPr>
          <a:xfrm>
            <a:off x="548640" y="1874519"/>
            <a:ext cx="15270480" cy="502920"/>
          </a:xfrm>
          <a:prstGeom prst="rect">
            <a:avLst/>
          </a:prstGeom>
          <a:solidFill>
            <a:srgbClr val="161F3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874519"/>
            <a:ext cx="1527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Heading Now 31-38 Bold"/>
              </a:rPr>
              <a:t>HOW PROOFCHAIN IS DIFFERENT FROM WHAT EXISTS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514600"/>
            <a:ext cx="17099280" cy="548640"/>
          </a:xfrm>
          <a:prstGeom prst="rect">
            <a:avLst/>
          </a:prstGeom>
          <a:solidFill>
            <a:srgbClr val="1425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2514600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Alternative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0000" y="2514600"/>
            <a:ext cx="4600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What it is built for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00000" y="2514600"/>
            <a:ext cx="7800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How ProofChain is different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063240"/>
            <a:ext cx="17099280" cy="822960"/>
          </a:xfrm>
          <a:prstGeom prst="rect">
            <a:avLst/>
          </a:prstGeom>
          <a:solidFill>
            <a:srgbClr val="FFFFFF">
              <a:alpha val="94000"/>
            </a:srgbClr>
          </a:solidFill>
          <a:ln w="635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3063240"/>
            <a:ext cx="3886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Arial"/>
              </a:rPr>
              <a:t>OpenTimestamps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0000" y="3063240"/>
            <a:ext cx="46000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475569"/>
                </a:solidFill>
                <a:latin typeface="Arial"/>
              </a:rPr>
              <a:t>Proves a file existed at a point in time, using a public blockchain anchor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00000" y="3063240"/>
            <a:ext cx="78000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166534"/>
                </a:solidFill>
                <a:latin typeface="Arial"/>
              </a:rPr>
              <a:t>A full document registry, not just a timestamp: per-record proofs, a mirrored roots log and exact failure reasons, with no public chain or fees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86200"/>
            <a:ext cx="17099280" cy="822960"/>
          </a:xfrm>
          <a:prstGeom prst="rect">
            <a:avLst/>
          </a:prstGeom>
          <a:solidFill>
            <a:srgbClr val="F6F7F9">
              <a:alpha val="94000"/>
            </a:srgbClr>
          </a:solidFill>
          <a:ln w="635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3886200"/>
            <a:ext cx="3886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Arial"/>
              </a:rPr>
              <a:t>Blockcerts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50000" y="3886200"/>
            <a:ext cx="46000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475569"/>
                </a:solidFill>
                <a:latin typeface="Arial"/>
              </a:rPr>
              <a:t>Blockchain-anchored credentials, mainly academic certificates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00000" y="3886200"/>
            <a:ext cx="78000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166534"/>
                </a:solidFill>
                <a:latin typeface="Arial"/>
              </a:rPr>
              <a:t>Not tied to a public chain: roots live in hash-chained logs we control, so no gas fees or confirmation waits, and any record type works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709160"/>
            <a:ext cx="17099280" cy="822960"/>
          </a:xfrm>
          <a:prstGeom prst="rect">
            <a:avLst/>
          </a:prstGeom>
          <a:solidFill>
            <a:srgbClr val="FFFFFF">
              <a:alpha val="94000"/>
            </a:srgbClr>
          </a:solidFill>
          <a:ln w="635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4709160"/>
            <a:ext cx="3886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Arial"/>
              </a:rPr>
              <a:t>Certificate Transparency (Trillian)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0000" y="4709160"/>
            <a:ext cx="46000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475569"/>
                </a:solidFill>
                <a:latin typeface="Arial"/>
              </a:rPr>
              <a:t>Merkle logs that make TLS certificates publicly auditable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0000" y="4709160"/>
            <a:ext cx="78000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166534"/>
                </a:solidFill>
                <a:latin typeface="Arial"/>
              </a:rPr>
              <a:t>Brings the same proven Merkle design (RFC 6962 / 9162) to document registries, adding intake, batching, per-record proofs and an integrity auditor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532120"/>
            <a:ext cx="17099280" cy="822960"/>
          </a:xfrm>
          <a:prstGeom prst="rect">
            <a:avLst/>
          </a:prstGeom>
          <a:solidFill>
            <a:srgbClr val="F6F7F9">
              <a:alpha val="94000"/>
            </a:srgbClr>
          </a:solidFill>
          <a:ln w="635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5532120"/>
            <a:ext cx="3886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Arial"/>
              </a:rPr>
              <a:t>Sigstore Rekor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50000" y="5532120"/>
            <a:ext cx="46000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475569"/>
                </a:solidFill>
                <a:latin typeface="Arial"/>
              </a:rPr>
              <a:t>A transparency log for software-signing records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00000" y="5532120"/>
            <a:ext cx="78000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166534"/>
                </a:solidFill>
                <a:latin typeface="Arial"/>
              </a:rPr>
              <a:t>Built around records and credentials: the registrar issues, the holder consents, the verifier checks, and an auditor oversees it all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355080"/>
            <a:ext cx="17099280" cy="822960"/>
          </a:xfrm>
          <a:prstGeom prst="rect">
            <a:avLst/>
          </a:prstGeom>
          <a:solidFill>
            <a:srgbClr val="FFFFFF">
              <a:alpha val="94000"/>
            </a:srgbClr>
          </a:solidFill>
          <a:ln w="635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6355080"/>
            <a:ext cx="3886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Arial"/>
              </a:rPr>
              <a:t>Hash stored beside the record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50000" y="6355080"/>
            <a:ext cx="46000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475569"/>
                </a:solidFill>
                <a:latin typeface="Arial"/>
              </a:rPr>
              <a:t>A checksum kept in the same database as the document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00000" y="6355080"/>
            <a:ext cx="78000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166534"/>
                </a:solidFill>
                <a:latin typeface="Arial"/>
              </a:rPr>
              <a:t>Reference lives outside the registry, so a rewritten database is still rejected. Live demo: the naive check says fine, ProofChain returns ROOT_MISMATCH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7498079"/>
            <a:ext cx="8412480" cy="1600200"/>
          </a:xfrm>
          <a:prstGeom prst="roundRect">
            <a:avLst>
              <a:gd name="adj" fmla="val 2500"/>
            </a:avLst>
          </a:prstGeom>
          <a:solidFill>
            <a:srgbClr val="FFFFFF">
              <a:alpha val="92000"/>
            </a:srgbClr>
          </a:solidFill>
          <a:ln w="22225">
            <a:solidFill>
              <a:srgbClr val="161F3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2960" y="7543800"/>
            <a:ext cx="7863840" cy="1508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61F3E"/>
                </a:solidFill>
                <a:latin typeface="Arial"/>
              </a:rPr>
              <a:t>What sets us apart: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the reference lives outside the registry, every record has its own proof, and a failed check says why. No public blockchain or gas fees needed.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35440" y="7498079"/>
            <a:ext cx="8412480" cy="1600200"/>
          </a:xfrm>
          <a:prstGeom prst="roundRect">
            <a:avLst>
              <a:gd name="adj" fmla="val 2500"/>
            </a:avLst>
          </a:prstGeom>
          <a:solidFill>
            <a:srgbClr val="EFE8F8">
              <a:alpha val="95000"/>
            </a:srgbClr>
          </a:solidFill>
          <a:ln w="9525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Icon tile"/>
          <p:cNvSpPr/>
          <p:nvPr/>
        </p:nvSpPr>
        <p:spPr>
          <a:xfrm>
            <a:off x="9464040" y="7955279"/>
            <a:ext cx="685800" cy="685800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Icon Lightbulb" descr="c_FaLightbulb_ORAN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35490" y="8126729"/>
            <a:ext cx="342900" cy="3429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378440" y="7543800"/>
            <a:ext cx="7132320" cy="1508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1F2937"/>
                </a:solidFill>
                <a:latin typeface="Arial"/>
              </a:rPr>
              <a:t>Research angle: Merkle transparency logs. </a:t>
            </a:r>
            <a:r>
              <a:rPr sz="1450" b="0" i="0">
                <a:solidFill>
                  <a:srgbClr val="1F2937"/>
                </a:solidFill>
                <a:latin typeface="Arial"/>
              </a:rPr>
              <a:t>RFC 6962 / RFC 9162 show how domain-separated hashing, inclusion proofs and signed tree heads give tamper evidence at Internet scale. ProofChain applies that model to document registries.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566928" y="237744"/>
            <a:ext cx="13898880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7500" b="1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RESEARCH AND REFERENCES</a:t>
            </a:r>
          </a:p>
        </p:txBody>
      </p:sp>
      <p:sp>
        <p:nvSpPr>
          <p:cNvPr id="11" name="Freeform 11"/>
          <p:cNvSpPr/>
          <p:nvPr/>
        </p:nvSpPr>
        <p:spPr>
          <a:xfrm>
            <a:off x="457200" y="1170432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49" y="0"/>
                </a:lnTo>
                <a:lnTo>
                  <a:pt x="5020449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Label DATA &amp; RESOURCE PLAN"/>
          <p:cNvSpPr/>
          <p:nvPr/>
        </p:nvSpPr>
        <p:spPr>
          <a:xfrm>
            <a:off x="548640" y="1874519"/>
            <a:ext cx="4572000" cy="502920"/>
          </a:xfrm>
          <a:prstGeom prst="rect">
            <a:avLst/>
          </a:prstGeom>
          <a:solidFill>
            <a:srgbClr val="161F3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874519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Heading Now 31-38 Bold"/>
              </a:rPr>
              <a:t>DATA &amp; RESOURCE PLAN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514600"/>
            <a:ext cx="8229600" cy="35661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2960" y="2807208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2697480"/>
            <a:ext cx="749807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Arial"/>
              </a:rPr>
              <a:t>No real dataset required: a systems PS, not ML. Synthetic sample certificates and contracts are enough.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630168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3520440"/>
            <a:ext cx="749807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Arial"/>
              </a:rPr>
              <a:t>Open-source tools only (Python, PostgreSQL, Git, WebCrypto), with known-answer test vectors for the Merkle and verifier code.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4453128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4343400"/>
            <a:ext cx="749807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Arial"/>
              </a:rPr>
              <a:t>Fully local demo with no network or gas: judges can watch a tamper attempt get rejected live.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5276088"/>
            <a:ext cx="82296" cy="82296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5166360"/>
            <a:ext cx="749807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Arial"/>
              </a:rPr>
              <a:t>A seed script pre-loads sample records and batches so the demo never looks empty.</a:t>
            </a:r>
          </a:p>
        </p:txBody>
      </p:sp>
      <p:sp>
        <p:nvSpPr>
          <p:cNvPr id="25" name="Label BUILD PLAN"/>
          <p:cNvSpPr/>
          <p:nvPr/>
        </p:nvSpPr>
        <p:spPr>
          <a:xfrm>
            <a:off x="548640" y="6355080"/>
            <a:ext cx="3657600" cy="502920"/>
          </a:xfrm>
          <a:prstGeom prst="rect">
            <a:avLst/>
          </a:prstGeom>
          <a:solidFill>
            <a:srgbClr val="161F3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635508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Heading Now 31-38 Bold"/>
              </a:rPr>
              <a:t>BUILD PLAN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6949440"/>
            <a:ext cx="8229600" cy="1554480"/>
          </a:xfrm>
          <a:prstGeom prst="roundRect">
            <a:avLst>
              <a:gd name="adj" fmla="val 2500"/>
            </a:avLst>
          </a:prstGeom>
          <a:solidFill>
            <a:srgbClr val="E6F3EA">
              <a:alpha val="95000"/>
            </a:srgbClr>
          </a:solidFill>
          <a:ln w="9525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Icon tile"/>
          <p:cNvSpPr/>
          <p:nvPr/>
        </p:nvSpPr>
        <p:spPr>
          <a:xfrm>
            <a:off x="777240" y="7360920"/>
            <a:ext cx="731520" cy="731520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Icon Code" descr="c_FaCode_NAV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0120" y="7543800"/>
            <a:ext cx="365760" cy="365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783080" y="6995160"/>
            <a:ext cx="685800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2937"/>
                </a:solidFill>
                <a:latin typeface="Arial"/>
              </a:rPr>
              <a:t>Core: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registry service, Merkle builder, standalone verifier (CLI + browser)</a:t>
            </a:r>
          </a:p>
          <a:p>
            <a:pPr algn="l"/>
            <a:r>
              <a:rPr sz="1500" b="1" i="0">
                <a:solidFill>
                  <a:srgbClr val="1F2937"/>
                </a:solidFill>
                <a:latin typeface="Arial"/>
              </a:rPr>
              <a:t>Then: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root ledger with mirrors, integrity auditor, AI assistant</a:t>
            </a:r>
          </a:p>
        </p:txBody>
      </p:sp>
      <p:sp>
        <p:nvSpPr>
          <p:cNvPr id="31" name="Label STANDARDS &amp; TOOLS RE"/>
          <p:cNvSpPr/>
          <p:nvPr/>
        </p:nvSpPr>
        <p:spPr>
          <a:xfrm>
            <a:off x="9144000" y="1874519"/>
            <a:ext cx="6675120" cy="502920"/>
          </a:xfrm>
          <a:prstGeom prst="rect">
            <a:avLst/>
          </a:prstGeom>
          <a:solidFill>
            <a:srgbClr val="161F3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0" y="1874519"/>
            <a:ext cx="6675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Heading Now 31-38 Bold"/>
              </a:rPr>
              <a:t>STANDARDS &amp; TOOLS REFERENCES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2606040"/>
            <a:ext cx="4206240" cy="1097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Icon tile"/>
          <p:cNvSpPr/>
          <p:nvPr/>
        </p:nvSpPr>
        <p:spPr>
          <a:xfrm>
            <a:off x="9308592" y="2843784"/>
            <a:ext cx="621792" cy="621792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Icon Sitemap" descr="c_FaSitemap_BLU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64040" y="2999232"/>
            <a:ext cx="310896" cy="31089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104120" y="2697480"/>
            <a:ext cx="3154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F172A"/>
                </a:solidFill>
                <a:latin typeface="Arial"/>
              </a:rPr>
              <a:t>RFC 6962 · Merkle logs</a:t>
            </a:r>
          </a:p>
          <a:p>
            <a:pPr algn="l"/>
            <a:r>
              <a:rPr sz="1150" b="0" i="0">
                <a:solidFill>
                  <a:srgbClr val="0B5CA8"/>
                </a:solidFill>
                <a:latin typeface="Arial"/>
              </a:rPr>
              <a:t>rfc-editor.org/rfc/rfc6962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3487400" y="2606040"/>
            <a:ext cx="4206240" cy="1097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Icon tile"/>
          <p:cNvSpPr/>
          <p:nvPr/>
        </p:nvSpPr>
        <p:spPr>
          <a:xfrm>
            <a:off x="13651992" y="2843784"/>
            <a:ext cx="621792" cy="621792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Icon Fingerprint" descr="c_FaFingerprint_PURPL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807440" y="2999232"/>
            <a:ext cx="310896" cy="31089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4447520" y="2697480"/>
            <a:ext cx="3154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F172A"/>
                </a:solidFill>
                <a:latin typeface="Arial"/>
              </a:rPr>
              <a:t>FIPS 180-4 · SHA-256</a:t>
            </a:r>
          </a:p>
          <a:p>
            <a:pPr algn="l"/>
            <a:r>
              <a:rPr sz="1150" b="0" i="0">
                <a:solidFill>
                  <a:srgbClr val="0B5CA8"/>
                </a:solidFill>
                <a:latin typeface="Arial"/>
              </a:rPr>
              <a:t>csrc.nist.gov/pubs/fips/180-4/final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0" y="3886200"/>
            <a:ext cx="4206240" cy="1097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Icon tile"/>
          <p:cNvSpPr/>
          <p:nvPr/>
        </p:nvSpPr>
        <p:spPr>
          <a:xfrm>
            <a:off x="9308592" y="4123944"/>
            <a:ext cx="621792" cy="621792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Icon FileCode" descr="c_FaFileCode_GREEN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64040" y="4279392"/>
            <a:ext cx="310896" cy="31089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104120" y="3977639"/>
            <a:ext cx="3154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F172A"/>
                </a:solidFill>
                <a:latin typeface="Arial"/>
              </a:rPr>
              <a:t>RFC 8785 · Canonical JSON</a:t>
            </a:r>
          </a:p>
          <a:p>
            <a:pPr algn="l"/>
            <a:r>
              <a:rPr sz="1150" b="0" i="0">
                <a:solidFill>
                  <a:srgbClr val="0B5CA8"/>
                </a:solidFill>
                <a:latin typeface="Arial"/>
              </a:rPr>
              <a:t>rfc-editor.org/rfc/rfc8785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3487400" y="3886200"/>
            <a:ext cx="4206240" cy="1097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Icon tile"/>
          <p:cNvSpPr/>
          <p:nvPr/>
        </p:nvSpPr>
        <p:spPr>
          <a:xfrm>
            <a:off x="13651992" y="4123944"/>
            <a:ext cx="621792" cy="621792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Icon Clock" descr="c_FaClock_ORAN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807440" y="4279392"/>
            <a:ext cx="310896" cy="31089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4447520" y="3977639"/>
            <a:ext cx="3154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F172A"/>
                </a:solidFill>
                <a:latin typeface="Arial"/>
              </a:rPr>
              <a:t>RFC 3161 · Timestamps</a:t>
            </a:r>
          </a:p>
          <a:p>
            <a:pPr algn="l"/>
            <a:r>
              <a:rPr sz="1150" b="0" i="0">
                <a:solidFill>
                  <a:srgbClr val="0B5CA8"/>
                </a:solidFill>
                <a:latin typeface="Arial"/>
              </a:rPr>
              <a:t>rfc-editor.org/rfc/rfc3161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0" y="5166360"/>
            <a:ext cx="4206240" cy="1097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Icon tile"/>
          <p:cNvSpPr/>
          <p:nvPr/>
        </p:nvSpPr>
        <p:spPr>
          <a:xfrm>
            <a:off x="9308592" y="5404104"/>
            <a:ext cx="621792" cy="621792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Icon Key" descr="c_FaKey_R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64040" y="5559552"/>
            <a:ext cx="310896" cy="310896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0104120" y="5257800"/>
            <a:ext cx="3154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F172A"/>
                </a:solidFill>
                <a:latin typeface="Arial"/>
              </a:rPr>
              <a:t>RFC 8032 · Ed25519</a:t>
            </a:r>
          </a:p>
          <a:p>
            <a:pPr algn="l"/>
            <a:r>
              <a:rPr sz="1150" b="0" i="0">
                <a:solidFill>
                  <a:srgbClr val="0B5CA8"/>
                </a:solidFill>
                <a:latin typeface="Arial"/>
              </a:rPr>
              <a:t>rfc-editor.org/rfc/rfc8032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3487400" y="5166360"/>
            <a:ext cx="4206240" cy="1097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Icon tile"/>
          <p:cNvSpPr/>
          <p:nvPr/>
        </p:nvSpPr>
        <p:spPr>
          <a:xfrm>
            <a:off x="13651992" y="5404104"/>
            <a:ext cx="621792" cy="621792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55" name="Icon ShieldAlt" descr="c_FaShieldAlt_GREEN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807440" y="5559552"/>
            <a:ext cx="310896" cy="310896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4447520" y="5257800"/>
            <a:ext cx="3154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F172A"/>
                </a:solidFill>
                <a:latin typeface="Arial"/>
              </a:rPr>
              <a:t>Certificate Transparency</a:t>
            </a:r>
          </a:p>
          <a:p>
            <a:pPr algn="l"/>
            <a:r>
              <a:rPr sz="1150" b="0" i="0">
                <a:solidFill>
                  <a:srgbClr val="0B5CA8"/>
                </a:solidFill>
                <a:latin typeface="Arial"/>
              </a:rPr>
              <a:t>certificate.transparency.dev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44000" y="6446519"/>
            <a:ext cx="4206240" cy="1097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Icon tile"/>
          <p:cNvSpPr/>
          <p:nvPr/>
        </p:nvSpPr>
        <p:spPr>
          <a:xfrm>
            <a:off x="9308592" y="6684263"/>
            <a:ext cx="621792" cy="621792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59" name="Icon HourglassHalf" descr="c_FaHourglassHalf_BLU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64040" y="6839711"/>
            <a:ext cx="310896" cy="310896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0104120" y="6537959"/>
            <a:ext cx="3154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F172A"/>
                </a:solidFill>
                <a:latin typeface="Arial"/>
              </a:rPr>
              <a:t>OpenTimestamps</a:t>
            </a:r>
          </a:p>
          <a:p>
            <a:pPr algn="l"/>
            <a:r>
              <a:rPr sz="1150" b="0" i="0">
                <a:solidFill>
                  <a:srgbClr val="0B5CA8"/>
                </a:solidFill>
                <a:latin typeface="Arial"/>
              </a:rPr>
              <a:t>opentimestamps.org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3487400" y="6446519"/>
            <a:ext cx="4206240" cy="1097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Icon tile"/>
          <p:cNvSpPr/>
          <p:nvPr/>
        </p:nvSpPr>
        <p:spPr>
          <a:xfrm>
            <a:off x="13651992" y="6684263"/>
            <a:ext cx="621792" cy="621792"/>
          </a:xfrm>
          <a:prstGeom prst="ellipse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Icon IdCard" descr="c_FaIdCard_PURPL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807440" y="6839711"/>
            <a:ext cx="310896" cy="310896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4447520" y="6537959"/>
            <a:ext cx="3154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F172A"/>
                </a:solidFill>
                <a:latin typeface="Arial"/>
              </a:rPr>
              <a:t>W3C Verifiable Credentials</a:t>
            </a:r>
          </a:p>
          <a:p>
            <a:pPr algn="l"/>
            <a:r>
              <a:rPr sz="1150" b="0" i="0">
                <a:solidFill>
                  <a:srgbClr val="0B5CA8"/>
                </a:solidFill>
                <a:latin typeface="Arial"/>
              </a:rPr>
              <a:t>w3.org/TR/vc-data-model-2.0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4711687"/>
            <a:ext cx="6540804" cy="5148966"/>
          </a:xfrm>
          <a:custGeom>
            <a:avLst/>
            <a:gdLst/>
            <a:ahLst/>
            <a:cxnLst/>
            <a:rect l="l" t="t" r="r" b="b"/>
            <a:pathLst>
              <a:path w="6540804" h="5148966">
                <a:moveTo>
                  <a:pt x="0" y="0"/>
                </a:moveTo>
                <a:lnTo>
                  <a:pt x="6540804" y="0"/>
                </a:lnTo>
                <a:lnTo>
                  <a:pt x="6540804" y="5148965"/>
                </a:lnTo>
                <a:lnTo>
                  <a:pt x="0" y="51489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175196" y="6854356"/>
            <a:ext cx="4364182" cy="3006296"/>
          </a:xfrm>
          <a:custGeom>
            <a:avLst/>
            <a:gdLst/>
            <a:ahLst/>
            <a:cxnLst/>
            <a:rect l="l" t="t" r="r" b="b"/>
            <a:pathLst>
              <a:path w="4364182" h="3006296">
                <a:moveTo>
                  <a:pt x="0" y="0"/>
                </a:moveTo>
                <a:lnTo>
                  <a:pt x="4364182" y="0"/>
                </a:lnTo>
                <a:lnTo>
                  <a:pt x="4364182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789330" y="7499343"/>
            <a:ext cx="8498670" cy="2361309"/>
          </a:xfrm>
          <a:custGeom>
            <a:avLst/>
            <a:gdLst/>
            <a:ahLst/>
            <a:cxnLst/>
            <a:rect l="l" t="t" r="r" b="b"/>
            <a:pathLst>
              <a:path w="8498670" h="2361309">
                <a:moveTo>
                  <a:pt x="0" y="0"/>
                </a:moveTo>
                <a:lnTo>
                  <a:pt x="8498670" y="0"/>
                </a:lnTo>
                <a:lnTo>
                  <a:pt x="8498670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7280704"/>
            <a:ext cx="16986402" cy="2798589"/>
          </a:xfrm>
          <a:custGeom>
            <a:avLst/>
            <a:gdLst/>
            <a:ahLst/>
            <a:cxnLst/>
            <a:rect l="l" t="t" r="r" b="b"/>
            <a:pathLst>
              <a:path w="16986402" h="2798589">
                <a:moveTo>
                  <a:pt x="0" y="0"/>
                </a:moveTo>
                <a:lnTo>
                  <a:pt x="16986402" y="0"/>
                </a:lnTo>
                <a:lnTo>
                  <a:pt x="1698640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01598" y="6635716"/>
            <a:ext cx="1312536" cy="3443576"/>
          </a:xfrm>
          <a:custGeom>
            <a:avLst/>
            <a:gdLst/>
            <a:ahLst/>
            <a:cxnLst/>
            <a:rect l="l" t="t" r="r" b="b"/>
            <a:pathLst>
              <a:path w="1312536" h="3443576">
                <a:moveTo>
                  <a:pt x="0" y="0"/>
                </a:moveTo>
                <a:lnTo>
                  <a:pt x="1312536" y="0"/>
                </a:lnTo>
                <a:lnTo>
                  <a:pt x="131253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176622" y="5990729"/>
            <a:ext cx="1531292" cy="4088563"/>
          </a:xfrm>
          <a:custGeom>
            <a:avLst/>
            <a:gdLst/>
            <a:ahLst/>
            <a:cxnLst/>
            <a:rect l="l" t="t" r="r" b="b"/>
            <a:pathLst>
              <a:path w="1531292" h="4088563">
                <a:moveTo>
                  <a:pt x="0" y="0"/>
                </a:moveTo>
                <a:lnTo>
                  <a:pt x="1531292" y="0"/>
                </a:lnTo>
                <a:lnTo>
                  <a:pt x="1531292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840976" y="6635716"/>
            <a:ext cx="1312536" cy="3443576"/>
          </a:xfrm>
          <a:custGeom>
            <a:avLst/>
            <a:gdLst/>
            <a:ahLst/>
            <a:cxnLst/>
            <a:rect l="l" t="t" r="r" b="b"/>
            <a:pathLst>
              <a:path w="1312536" h="3443576">
                <a:moveTo>
                  <a:pt x="0" y="0"/>
                </a:moveTo>
                <a:lnTo>
                  <a:pt x="1312536" y="0"/>
                </a:lnTo>
                <a:lnTo>
                  <a:pt x="131253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923818" y="7280704"/>
            <a:ext cx="1104718" cy="2579949"/>
          </a:xfrm>
          <a:custGeom>
            <a:avLst/>
            <a:gdLst/>
            <a:ahLst/>
            <a:cxnLst/>
            <a:rect l="l" t="t" r="r" b="b"/>
            <a:pathLst>
              <a:path w="1104718" h="2579949">
                <a:moveTo>
                  <a:pt x="0" y="0"/>
                </a:moveTo>
                <a:lnTo>
                  <a:pt x="1104718" y="0"/>
                </a:lnTo>
                <a:lnTo>
                  <a:pt x="1104718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0" y="9423373"/>
            <a:ext cx="18288000" cy="863627"/>
          </a:xfrm>
          <a:custGeom>
            <a:avLst/>
            <a:gdLst/>
            <a:ahLst/>
            <a:cxnLst/>
            <a:rect l="l" t="t" r="r" b="b"/>
            <a:pathLst>
              <a:path w="18288000" h="863627">
                <a:moveTo>
                  <a:pt x="0" y="0"/>
                </a:moveTo>
                <a:lnTo>
                  <a:pt x="18288000" y="0"/>
                </a:lnTo>
                <a:lnTo>
                  <a:pt x="1828800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663020" y="3238633"/>
            <a:ext cx="6961960" cy="2220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29"/>
              </a:lnSpc>
            </a:pPr>
            <a:r>
              <a:rPr lang="en-US" sz="14129" b="1" spc="282">
                <a:solidFill>
                  <a:srgbClr val="141D4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THANK YOU!</a:t>
            </a:r>
          </a:p>
        </p:txBody>
      </p:sp>
      <p:sp>
        <p:nvSpPr>
          <p:cNvPr id="13" name="Freeform 13"/>
          <p:cNvSpPr/>
          <p:nvPr/>
        </p:nvSpPr>
        <p:spPr>
          <a:xfrm>
            <a:off x="3259464" y="5459607"/>
            <a:ext cx="11769072" cy="218640"/>
          </a:xfrm>
          <a:custGeom>
            <a:avLst/>
            <a:gdLst/>
            <a:ahLst/>
            <a:cxnLst/>
            <a:rect l="l" t="t" r="r" b="b"/>
            <a:pathLst>
              <a:path w="11769072" h="218640">
                <a:moveTo>
                  <a:pt x="0" y="0"/>
                </a:moveTo>
                <a:lnTo>
                  <a:pt x="11769072" y="0"/>
                </a:lnTo>
                <a:lnTo>
                  <a:pt x="1176907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517132" y="5877000"/>
            <a:ext cx="3296956" cy="874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4"/>
              </a:lnSpc>
            </a:pPr>
            <a:r>
              <a:rPr lang="en-US" sz="5554" b="1" spc="276">
                <a:solidFill>
                  <a:srgbClr val="323F9D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VORTEXA 3.0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81401" y="7052188"/>
            <a:ext cx="1168417" cy="8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4"/>
              </a:lnSpc>
            </a:pPr>
            <a:r>
              <a:rPr lang="en-US" sz="5554" b="1" spc="276">
                <a:solidFill>
                  <a:srgbClr val="ED80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AIRS</a:t>
            </a:r>
          </a:p>
        </p:txBody>
      </p:sp>
      <p:sp>
        <p:nvSpPr>
          <p:cNvPr id="16" name="TextBox 16"/>
          <p:cNvSpPr txBox="1"/>
          <p:nvPr/>
        </p:nvSpPr>
        <p:spPr>
          <a:xfrm rot="-769921">
            <a:off x="15555796" y="4644632"/>
            <a:ext cx="1911526" cy="1704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5"/>
              </a:lnSpc>
            </a:pPr>
            <a:r>
              <a:rPr lang="en-US" sz="5211">
                <a:solidFill>
                  <a:srgbClr val="ED8076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Game’s</a:t>
            </a:r>
          </a:p>
          <a:p>
            <a:pPr algn="ctr">
              <a:lnSpc>
                <a:spcPts val="6255"/>
              </a:lnSpc>
            </a:pPr>
            <a:r>
              <a:rPr lang="en-US" sz="5211">
                <a:solidFill>
                  <a:srgbClr val="ED8076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Still On</a:t>
            </a:r>
          </a:p>
        </p:txBody>
      </p:sp>
      <p:sp>
        <p:nvSpPr>
          <p:cNvPr id="17" name="Freeform 17"/>
          <p:cNvSpPr/>
          <p:nvPr/>
        </p:nvSpPr>
        <p:spPr>
          <a:xfrm>
            <a:off x="15892622" y="5998497"/>
            <a:ext cx="2187560" cy="1082267"/>
          </a:xfrm>
          <a:custGeom>
            <a:avLst/>
            <a:gdLst/>
            <a:ahLst/>
            <a:cxnLst/>
            <a:rect l="l" t="t" r="r" b="b"/>
            <a:pathLst>
              <a:path w="2187560" h="1082267">
                <a:moveTo>
                  <a:pt x="0" y="0"/>
                </a:moveTo>
                <a:lnTo>
                  <a:pt x="2187560" y="0"/>
                </a:lnTo>
                <a:lnTo>
                  <a:pt x="2187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1871</Words>
  <Application>Microsoft Office PowerPoint</Application>
  <PresentationFormat>Custom</PresentationFormat>
  <Paragraphs>194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Heading Now 31-38 Bold</vt:lpstr>
      <vt:lpstr>Courier New</vt:lpstr>
      <vt:lpstr>Heading Now 31-38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VORTEXA 3.0 Hackathon</dc:title>
  <cp:lastModifiedBy>Atharva Deore</cp:lastModifiedBy>
  <cp:revision>3</cp:revision>
  <dcterms:created xsi:type="dcterms:W3CDTF">2006-08-16T00:00:00Z</dcterms:created>
  <dcterms:modified xsi:type="dcterms:W3CDTF">2026-10-11T15:19:52Z</dcterms:modified>
  <dc:identifier>DAHXr7I3BNw</dc:identifier>
</cp:coreProperties>
</file>